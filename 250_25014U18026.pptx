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2"/>
  </p:notesMasterIdLst>
  <p:sldIdLst>
    <p:sldId id="265" r:id="rId2"/>
    <p:sldId id="256" r:id="rId3"/>
    <p:sldId id="301" r:id="rId4"/>
    <p:sldId id="302" r:id="rId5"/>
    <p:sldId id="299" r:id="rId6"/>
    <p:sldId id="300" r:id="rId7"/>
    <p:sldId id="266" r:id="rId8"/>
    <p:sldId id="258" r:id="rId9"/>
    <p:sldId id="259" r:id="rId10"/>
    <p:sldId id="270" r:id="rId11"/>
    <p:sldId id="261" r:id="rId12"/>
    <p:sldId id="262" r:id="rId13"/>
    <p:sldId id="263" r:id="rId14"/>
    <p:sldId id="267" r:id="rId15"/>
    <p:sldId id="268" r:id="rId16"/>
    <p:sldId id="286" r:id="rId17"/>
    <p:sldId id="285" r:id="rId18"/>
    <p:sldId id="287" r:id="rId19"/>
    <p:sldId id="288" r:id="rId20"/>
    <p:sldId id="289" r:id="rId21"/>
    <p:sldId id="290" r:id="rId22"/>
    <p:sldId id="291" r:id="rId23"/>
    <p:sldId id="292" r:id="rId24"/>
    <p:sldId id="293" r:id="rId25"/>
    <p:sldId id="294" r:id="rId26"/>
    <p:sldId id="295" r:id="rId27"/>
    <p:sldId id="303" r:id="rId28"/>
    <p:sldId id="296" r:id="rId29"/>
    <p:sldId id="297" r:id="rId30"/>
    <p:sldId id="298"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viewProps" Target="view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notesMaster" Target="notesMasters/notesMaster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tableStyles" Target="tableStyles.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D241D7-B2C7-2245-B0DE-56BEFAC63AA3}" type="datetimeFigureOut">
              <a:rPr lang="en-US" smtClean="0"/>
              <a:t>9/4/2025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B2BBAD-2A33-6045-8500-4F1215CAFAB4}" type="slidenum">
              <a:rPr lang="en-US" smtClean="0"/>
              <a:t>‹#›</a:t>
            </a:fld>
            <a:endParaRPr lang="en-US"/>
          </a:p>
        </p:txBody>
      </p:sp>
    </p:spTree>
    <p:extLst>
      <p:ext uri="{BB962C8B-B14F-4D97-AF65-F5344CB8AC3E}">
        <p14:creationId xmlns:p14="http://schemas.microsoft.com/office/powerpoint/2010/main" val="2239417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9144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866216" y="2099733"/>
            <a:ext cx="6619244" cy="2677648"/>
          </a:xfrm>
        </p:spPr>
        <p:txBody>
          <a:bodyPr anchor="b"/>
          <a:lstStyle>
            <a:lvl1pPr>
              <a:defRPr sz="4050"/>
            </a:lvl1pPr>
          </a:lstStyle>
          <a:p>
            <a:r>
              <a:rPr lang="en-US"/>
              <a:t>Click to edit Master title style</a:t>
            </a:r>
            <a:endParaRPr lang="en-US" dirty="0"/>
          </a:p>
        </p:txBody>
      </p:sp>
      <p:sp>
        <p:nvSpPr>
          <p:cNvPr id="3" name="Subtitle 2"/>
          <p:cNvSpPr>
            <a:spLocks noGrp="1"/>
          </p:cNvSpPr>
          <p:nvPr>
            <p:ph type="subTitle" idx="1"/>
          </p:nvPr>
        </p:nvSpPr>
        <p:spPr bwMode="gray">
          <a:xfrm>
            <a:off x="866216" y="4777380"/>
            <a:ext cx="6619244" cy="861420"/>
          </a:xfrm>
        </p:spPr>
        <p:txBody>
          <a:bodyPr anchor="t"/>
          <a:lstStyle>
            <a:lvl1pPr marL="0" indent="0" algn="l">
              <a:buNone/>
              <a:defRPr cap="all">
                <a:solidFill>
                  <a:schemeClr val="accent1">
                    <a:lumMod val="60000"/>
                    <a:lumOff val="4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7495414" y="1830325"/>
            <a:ext cx="990599" cy="228599"/>
          </a:xfrm>
        </p:spPr>
        <p:txBody>
          <a:bodyPr anchor="t"/>
          <a:lstStyle>
            <a:lvl1pPr algn="l">
              <a:defRPr b="0" i="0">
                <a:solidFill>
                  <a:schemeClr val="bg1">
                    <a:alpha val="60000"/>
                  </a:schemeClr>
                </a:solidFill>
              </a:defRPr>
            </a:lvl1pPr>
          </a:lstStyle>
          <a:p>
            <a:fld id="{5923F103-BC34-4FE4-A40E-EDDEECFDA5D0}" type="datetimeFigureOut">
              <a:rPr lang="en-US" dirty="0"/>
              <a:pPr/>
              <a:t>9/4/2025</a:t>
            </a:fld>
            <a:endParaRPr lang="en-US" dirty="0"/>
          </a:p>
        </p:txBody>
      </p:sp>
      <p:sp>
        <p:nvSpPr>
          <p:cNvPr id="5" name="Footer Placeholder 4"/>
          <p:cNvSpPr>
            <a:spLocks noGrp="1"/>
          </p:cNvSpPr>
          <p:nvPr>
            <p:ph type="ftr" sz="quarter" idx="11"/>
          </p:nvPr>
        </p:nvSpPr>
        <p:spPr bwMode="gray">
          <a:xfrm rot="5400000">
            <a:off x="6231508" y="3265933"/>
            <a:ext cx="3859795" cy="2286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7764406" y="295730"/>
            <a:ext cx="628649" cy="767687"/>
          </a:xfrm>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866216" y="2603500"/>
            <a:ext cx="6619244"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9/4/2025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9144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866216" y="2677645"/>
            <a:ext cx="3263269" cy="2283824"/>
          </a:xfrm>
        </p:spPr>
        <p:txBody>
          <a:bodyPr anchor="ctr"/>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171670" y="2677644"/>
            <a:ext cx="2818159" cy="2283824"/>
          </a:xfrm>
        </p:spPr>
        <p:txBody>
          <a:bodyPr anchor="ctr"/>
          <a:lstStyle>
            <a:lvl1pPr marL="0" indent="0" algn="l">
              <a:buNone/>
              <a:defRPr sz="1500" cap="all">
                <a:solidFill>
                  <a:schemeClr val="accent1">
                    <a:lumMod val="60000"/>
                    <a:lumOff val="4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9/4/2025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66215" y="2603501"/>
            <a:ext cx="3618869"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6535" y="2603500"/>
            <a:ext cx="361886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9/4/2025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6216" y="2603500"/>
            <a:ext cx="3618868" cy="576262"/>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66215" y="3179763"/>
            <a:ext cx="3618869"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56535" y="2603500"/>
            <a:ext cx="3618869" cy="576262"/>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56535" y="3179763"/>
            <a:ext cx="3618869" cy="2840039"/>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9/4/2025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866216" y="973668"/>
            <a:ext cx="6571060"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9/4/2025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9/4/2025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9144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866216" y="1295400"/>
            <a:ext cx="2094869" cy="1600200"/>
          </a:xfrm>
        </p:spPr>
        <p:txBody>
          <a:bodyPr anchor="b"/>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4335859" y="1447800"/>
            <a:ext cx="3892550"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866215" y="3129281"/>
            <a:ext cx="2094869" cy="2895599"/>
          </a:xfrm>
        </p:spPr>
        <p:txBody>
          <a:bodyPr/>
          <a:lstStyle>
            <a:lvl1pPr marL="0" indent="0">
              <a:buNone/>
              <a:defRPr sz="1050">
                <a:solidFill>
                  <a:schemeClr val="accent1">
                    <a:lumMod val="60000"/>
                    <a:lumOff val="40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9/4/2025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9144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866216" y="1693334"/>
            <a:ext cx="2898851" cy="1735667"/>
          </a:xfrm>
        </p:spPr>
        <p:txBody>
          <a:bodyPr anchor="b">
            <a:normAutofit/>
          </a:bodyPr>
          <a:lstStyle>
            <a:lvl1pPr algn="l">
              <a:defRPr sz="27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910903" y="1143000"/>
            <a:ext cx="242039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866215" y="3657600"/>
            <a:ext cx="2894409" cy="1371600"/>
          </a:xfrm>
        </p:spPr>
        <p:txBody>
          <a:bodyPr>
            <a:normAutofit/>
          </a:bodyPr>
          <a:lstStyle>
            <a:lvl1pPr marL="0" indent="0">
              <a:buNone/>
              <a:defRPr sz="1050">
                <a:solidFill>
                  <a:schemeClr val="accent1">
                    <a:lumMod val="60000"/>
                    <a:lumOff val="40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9/4/2025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9144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866216" y="4969927"/>
            <a:ext cx="6619244" cy="566738"/>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216" y="685800"/>
            <a:ext cx="661924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5" y="5536665"/>
            <a:ext cx="6619244" cy="493712"/>
          </a:xfrm>
        </p:spPr>
        <p:txBody>
          <a:bodyPr>
            <a:normAutofit/>
          </a:bodyPr>
          <a:lstStyle>
            <a:lvl1pPr marL="0" indent="0">
              <a:buNone/>
              <a:defRPr sz="900">
                <a:solidFill>
                  <a:schemeClr val="accent1">
                    <a:lumMod val="60000"/>
                    <a:lumOff val="40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9/4/2025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9144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861598" y="1063417"/>
            <a:ext cx="6623862" cy="1372986"/>
          </a:xfrm>
        </p:spPr>
        <p:txBody>
          <a:bodyPr/>
          <a:lstStyle>
            <a:lvl1pPr>
              <a:defRPr sz="3000"/>
            </a:lvl1pPr>
          </a:lstStyle>
          <a:p>
            <a:r>
              <a:rPr lang="en-US"/>
              <a:t>Click to edit Master title style</a:t>
            </a:r>
            <a:endParaRPr lang="en-US" dirty="0"/>
          </a:p>
        </p:txBody>
      </p:sp>
      <p:sp>
        <p:nvSpPr>
          <p:cNvPr id="8" name="Text Placeholder 3"/>
          <p:cNvSpPr>
            <a:spLocks noGrp="1"/>
          </p:cNvSpPr>
          <p:nvPr>
            <p:ph type="body" sz="half" idx="2"/>
          </p:nvPr>
        </p:nvSpPr>
        <p:spPr>
          <a:xfrm>
            <a:off x="866216" y="3543300"/>
            <a:ext cx="6619244" cy="24765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9/4/2025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9144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661175" y="607336"/>
            <a:ext cx="601434" cy="1200329"/>
          </a:xfrm>
          <a:prstGeom prst="rect">
            <a:avLst/>
          </a:prstGeom>
          <a:noFill/>
        </p:spPr>
        <p:txBody>
          <a:bodyPr wrap="square" rtlCol="0">
            <a:spAutoFit/>
          </a:bodyPr>
          <a:lstStyle/>
          <a:p>
            <a:pPr algn="r"/>
            <a:r>
              <a:rPr lang="en-US" sz="7200" b="0" i="0" dirty="0">
                <a:solidFill>
                  <a:schemeClr val="accent1">
                    <a:lumMod val="60000"/>
                    <a:lumOff val="40000"/>
                  </a:schemeClr>
                </a:solidFill>
                <a:latin typeface="Arial"/>
                <a:cs typeface="Arial"/>
              </a:rPr>
              <a:t>“</a:t>
            </a:r>
          </a:p>
        </p:txBody>
      </p:sp>
      <p:sp>
        <p:nvSpPr>
          <p:cNvPr id="13" name="TextBox 12"/>
          <p:cNvSpPr txBox="1"/>
          <p:nvPr/>
        </p:nvSpPr>
        <p:spPr bwMode="gray">
          <a:xfrm>
            <a:off x="7413344" y="2613787"/>
            <a:ext cx="489572" cy="1200329"/>
          </a:xfrm>
          <a:prstGeom prst="rect">
            <a:avLst/>
          </a:prstGeom>
          <a:noFill/>
        </p:spPr>
        <p:txBody>
          <a:bodyPr wrap="square" rtlCol="0">
            <a:spAutoFit/>
          </a:bodyPr>
          <a:lstStyle/>
          <a:p>
            <a:pPr algn="r"/>
            <a:r>
              <a:rPr lang="en-US" sz="72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86408" y="982134"/>
            <a:ext cx="6340430" cy="2696632"/>
          </a:xfrm>
        </p:spPr>
        <p:txBody>
          <a:bodyPr/>
          <a:lstStyle>
            <a:lvl1pPr>
              <a:defRPr sz="3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459459" y="3678766"/>
            <a:ext cx="5798414" cy="342174"/>
          </a:xfrm>
        </p:spPr>
        <p:txBody>
          <a:bodyPr anchor="t">
            <a:normAutofit/>
          </a:bodyPr>
          <a:lstStyle>
            <a:lvl1pPr marL="0" indent="0">
              <a:buNone/>
              <a:defRPr lang="en-US" sz="1050" b="0" i="0" kern="1200" cap="small" dirty="0">
                <a:solidFill>
                  <a:schemeClr val="accent1">
                    <a:lumMod val="60000"/>
                    <a:lumOff val="40000"/>
                  </a:schemeClr>
                </a:solidFill>
                <a:latin typeface="+mn-lt"/>
                <a:ea typeface="+mn-ea"/>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0" name="Text Placeholder 3"/>
          <p:cNvSpPr>
            <a:spLocks noGrp="1"/>
          </p:cNvSpPr>
          <p:nvPr>
            <p:ph type="body" sz="half" idx="2"/>
          </p:nvPr>
        </p:nvSpPr>
        <p:spPr>
          <a:xfrm>
            <a:off x="866216" y="5029200"/>
            <a:ext cx="6933673" cy="997857"/>
          </a:xfrm>
        </p:spPr>
        <p:txBody>
          <a:bodyPr anchor="ct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9/4/2025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9144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866216" y="2370667"/>
            <a:ext cx="6619245" cy="1822514"/>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5024967"/>
            <a:ext cx="6619244" cy="860400"/>
          </a:xfrm>
        </p:spPr>
        <p:txBody>
          <a:bodyPr anchor="t"/>
          <a:lstStyle>
            <a:lvl1pPr marL="0" indent="0" algn="l">
              <a:buNone/>
              <a:defRPr sz="1500" cap="none">
                <a:solidFill>
                  <a:schemeClr val="accent1">
                    <a:lumMod val="60000"/>
                    <a:lumOff val="4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9/4/2025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216" y="973668"/>
            <a:ext cx="6619244" cy="706964"/>
          </a:xfrm>
        </p:spPr>
        <p:txBody>
          <a:bodyPr/>
          <a:lstStyle>
            <a:lvl1pPr>
              <a:defRPr sz="2700"/>
            </a:lvl1pPr>
          </a:lstStyle>
          <a:p>
            <a:r>
              <a:rPr lang="en-US"/>
              <a:t>Click to edit Master title style</a:t>
            </a:r>
            <a:endParaRPr lang="en-US" dirty="0"/>
          </a:p>
        </p:txBody>
      </p:sp>
      <p:sp>
        <p:nvSpPr>
          <p:cNvPr id="3" name="Text Placeholder 2"/>
          <p:cNvSpPr>
            <a:spLocks noGrp="1"/>
          </p:cNvSpPr>
          <p:nvPr>
            <p:ph type="body" idx="1"/>
          </p:nvPr>
        </p:nvSpPr>
        <p:spPr>
          <a:xfrm>
            <a:off x="866215" y="2603502"/>
            <a:ext cx="2356409" cy="576262"/>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6" name="Text Placeholder 3"/>
          <p:cNvSpPr>
            <a:spLocks noGrp="1"/>
          </p:cNvSpPr>
          <p:nvPr>
            <p:ph type="body" sz="half" idx="15"/>
          </p:nvPr>
        </p:nvSpPr>
        <p:spPr>
          <a:xfrm>
            <a:off x="866215" y="3179765"/>
            <a:ext cx="2356409" cy="2847293"/>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3384541" y="2603500"/>
            <a:ext cx="2360257" cy="576262"/>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9" name="Text Placeholder 3"/>
          <p:cNvSpPr>
            <a:spLocks noGrp="1"/>
          </p:cNvSpPr>
          <p:nvPr>
            <p:ph type="body" sz="half" idx="16"/>
          </p:nvPr>
        </p:nvSpPr>
        <p:spPr>
          <a:xfrm>
            <a:off x="3384541" y="3179764"/>
            <a:ext cx="2360257" cy="2847293"/>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916101" y="2603501"/>
            <a:ext cx="2359298" cy="576262"/>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Text Placeholder 3"/>
          <p:cNvSpPr>
            <a:spLocks noGrp="1"/>
          </p:cNvSpPr>
          <p:nvPr>
            <p:ph type="body" sz="half" idx="17"/>
          </p:nvPr>
        </p:nvSpPr>
        <p:spPr>
          <a:xfrm>
            <a:off x="5916247" y="3179762"/>
            <a:ext cx="2359152" cy="2847293"/>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7" name="Straight Connector 16"/>
          <p:cNvCxnSpPr/>
          <p:nvPr/>
        </p:nvCxnSpPr>
        <p:spPr>
          <a:xfrm>
            <a:off x="3302978" y="2569634"/>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29301" y="2569634"/>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9/4/2025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216" y="973668"/>
            <a:ext cx="6619244" cy="706964"/>
          </a:xfrm>
        </p:spPr>
        <p:txBody>
          <a:bodyPr/>
          <a:lstStyle>
            <a:lvl1pPr>
              <a:defRPr sz="2700"/>
            </a:lvl1pPr>
          </a:lstStyle>
          <a:p>
            <a:r>
              <a:rPr lang="en-US"/>
              <a:t>Click to edit Master title style</a:t>
            </a:r>
            <a:endParaRPr lang="en-US" dirty="0"/>
          </a:p>
        </p:txBody>
      </p:sp>
      <p:sp>
        <p:nvSpPr>
          <p:cNvPr id="3" name="Text Placeholder 2"/>
          <p:cNvSpPr>
            <a:spLocks noGrp="1"/>
          </p:cNvSpPr>
          <p:nvPr>
            <p:ph type="body" idx="1"/>
          </p:nvPr>
        </p:nvSpPr>
        <p:spPr>
          <a:xfrm>
            <a:off x="866215" y="4532844"/>
            <a:ext cx="2287829" cy="576262"/>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9" name="Picture Placeholder 2"/>
          <p:cNvSpPr>
            <a:spLocks noGrp="1" noChangeAspect="1"/>
          </p:cNvSpPr>
          <p:nvPr>
            <p:ph type="pic" idx="15"/>
          </p:nvPr>
        </p:nvSpPr>
        <p:spPr>
          <a:xfrm>
            <a:off x="1000915" y="2603500"/>
            <a:ext cx="201843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2" name="Text Placeholder 3"/>
          <p:cNvSpPr>
            <a:spLocks noGrp="1"/>
          </p:cNvSpPr>
          <p:nvPr>
            <p:ph type="body" sz="half" idx="18"/>
          </p:nvPr>
        </p:nvSpPr>
        <p:spPr>
          <a:xfrm>
            <a:off x="866215" y="5109106"/>
            <a:ext cx="2287829" cy="91795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3426649" y="4532845"/>
            <a:ext cx="2287829" cy="576263"/>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1" name="Picture Placeholder 2"/>
          <p:cNvSpPr>
            <a:spLocks noGrp="1" noChangeAspect="1"/>
          </p:cNvSpPr>
          <p:nvPr>
            <p:ph type="pic" idx="21"/>
          </p:nvPr>
        </p:nvSpPr>
        <p:spPr>
          <a:xfrm>
            <a:off x="3561347" y="2603500"/>
            <a:ext cx="201843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3" name="Text Placeholder 3"/>
          <p:cNvSpPr>
            <a:spLocks noGrp="1"/>
          </p:cNvSpPr>
          <p:nvPr>
            <p:ph type="body" sz="half" idx="19"/>
          </p:nvPr>
        </p:nvSpPr>
        <p:spPr>
          <a:xfrm>
            <a:off x="3427629" y="5109105"/>
            <a:ext cx="2287829" cy="91795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987082" y="4532845"/>
            <a:ext cx="2288321" cy="576262"/>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2" name="Picture Placeholder 2"/>
          <p:cNvSpPr>
            <a:spLocks noGrp="1" noChangeAspect="1"/>
          </p:cNvSpPr>
          <p:nvPr>
            <p:ph type="pic" idx="22"/>
          </p:nvPr>
        </p:nvSpPr>
        <p:spPr>
          <a:xfrm>
            <a:off x="6122273" y="2603500"/>
            <a:ext cx="201843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20"/>
          </p:nvPr>
        </p:nvSpPr>
        <p:spPr>
          <a:xfrm>
            <a:off x="5987081" y="5109104"/>
            <a:ext cx="2288322" cy="91795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43" name="Straight Connector 42"/>
          <p:cNvCxnSpPr/>
          <p:nvPr/>
        </p:nvCxnSpPr>
        <p:spPr>
          <a:xfrm>
            <a:off x="3304373" y="2569634"/>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5848352" y="2569634"/>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9/4/2025</a:t>
            </a:fld>
            <a:endParaRPr lang="en-US" dirty="0"/>
          </a:p>
        </p:txBody>
      </p:sp>
      <p:sp>
        <p:nvSpPr>
          <p:cNvPr id="8" name="Footer Placeholder 7"/>
          <p:cNvSpPr>
            <a:spLocks noGrp="1"/>
          </p:cNvSpPr>
          <p:nvPr>
            <p:ph type="ftr" sz="quarter" idx="11"/>
          </p:nvPr>
        </p:nvSpPr>
        <p:spPr>
          <a:xfrm>
            <a:off x="420833" y="6391839"/>
            <a:ext cx="273321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66216" y="973668"/>
            <a:ext cx="6619244"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866216" y="2603500"/>
            <a:ext cx="6619244"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021580" y="6391839"/>
            <a:ext cx="742949" cy="304799"/>
          </a:xfrm>
        </p:spPr>
        <p:txBody>
          <a:bodyPr/>
          <a:lstStyle/>
          <a:p>
            <a:fld id="{53086D93-FCAC-47E0-A2EE-787E62CA814C}" type="datetimeFigureOut">
              <a:rPr lang="en-US" dirty="0"/>
              <a:t>9/4/2025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9144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6438927" y="1278467"/>
            <a:ext cx="1057474"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66216" y="1278467"/>
            <a:ext cx="4692019"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989829" y="6391839"/>
            <a:ext cx="744101" cy="304799"/>
          </a:xfrm>
        </p:spPr>
        <p:txBody>
          <a:bodyPr/>
          <a:lstStyle/>
          <a:p>
            <a:fld id="{CDA879A6-0FD0-4734-A311-86BFCA472E6E}" type="datetimeFigureOut">
              <a:rPr lang="en-US" dirty="0"/>
              <a:t>9/4/2025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1.jpe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9144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866216" y="973668"/>
            <a:ext cx="6571060"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6216" y="2603500"/>
            <a:ext cx="6571060"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89829" y="6391839"/>
            <a:ext cx="742949" cy="304799"/>
          </a:xfrm>
          <a:prstGeom prst="rect">
            <a:avLst/>
          </a:prstGeom>
        </p:spPr>
        <p:txBody>
          <a:bodyPr vert="horz" lIns="91440" tIns="45720" rIns="91440" bIns="45720" rtlCol="0" anchor="ctr"/>
          <a:lstStyle>
            <a:lvl1pPr algn="r">
              <a:defRPr sz="750" b="1" i="0">
                <a:solidFill>
                  <a:schemeClr val="accent1"/>
                </a:solidFill>
              </a:defRPr>
            </a:lvl1pPr>
          </a:lstStyle>
          <a:p>
            <a:fld id="{2BE451C3-0FF4-47C4-B829-773ADF60F88C}" type="datetimeFigureOut">
              <a:rPr lang="en-US" dirty="0"/>
              <a:t>9/4/2025</a:t>
            </a:fld>
            <a:endParaRPr lang="en-US" dirty="0"/>
          </a:p>
        </p:txBody>
      </p:sp>
      <p:sp>
        <p:nvSpPr>
          <p:cNvPr id="5" name="Footer Placeholder 4"/>
          <p:cNvSpPr>
            <a:spLocks noGrp="1"/>
          </p:cNvSpPr>
          <p:nvPr>
            <p:ph type="ftr" sz="quarter" idx="3"/>
          </p:nvPr>
        </p:nvSpPr>
        <p:spPr>
          <a:xfrm>
            <a:off x="420833" y="6391839"/>
            <a:ext cx="2894846" cy="304801"/>
          </a:xfrm>
          <a:prstGeom prst="rect">
            <a:avLst/>
          </a:prstGeom>
        </p:spPr>
        <p:txBody>
          <a:bodyPr vert="horz" lIns="91440" tIns="45720" rIns="91440" bIns="45720" rtlCol="0" anchor="ctr"/>
          <a:lstStyle>
            <a:lvl1pPr algn="l">
              <a:defRPr sz="750" b="1" i="0">
                <a:solidFill>
                  <a:schemeClr val="accent1"/>
                </a:solidFill>
              </a:defRPr>
            </a:lvl1pPr>
          </a:lstStyle>
          <a:p>
            <a:endParaRPr lang="en-US" dirty="0"/>
          </a:p>
        </p:txBody>
      </p:sp>
      <p:sp>
        <p:nvSpPr>
          <p:cNvPr id="21" name="Rectangle 20"/>
          <p:cNvSpPr/>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7764406" y="295730"/>
            <a:ext cx="628649" cy="767687"/>
          </a:xfrm>
          <a:prstGeom prst="rect">
            <a:avLst/>
          </a:prstGeom>
        </p:spPr>
        <p:txBody>
          <a:bodyPr vert="horz" lIns="91440" tIns="45720" rIns="91440" bIns="45720" rtlCol="0" anchor="b"/>
          <a:lstStyle>
            <a:lvl1pPr algn="ctr">
              <a:defRPr sz="21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3.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4.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7.jpe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image" Target="../media/image8.jpeg"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image" Target="../media/image9.jpe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3" Type="http://schemas.openxmlformats.org/officeDocument/2006/relationships/image" Target="../media/image11.jpeg" /><Relationship Id="rId2" Type="http://schemas.openxmlformats.org/officeDocument/2006/relationships/hyperlink" Target="mailto:shamkumar@woodcrafts.in" TargetMode="External" /><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 /><Relationship Id="rId2" Type="http://schemas.openxmlformats.org/officeDocument/2006/relationships/video" Target="../media/media1.mp4" /><Relationship Id="rId1" Type="http://schemas.microsoft.com/office/2007/relationships/media" Target="../media/media1.mp4" /><Relationship Id="rId4" Type="http://schemas.openxmlformats.org/officeDocument/2006/relationships/image" Target="../media/image12.png" /></Relationships>
</file>

<file path=ppt/slides/_rels/slide28.xml.rels><?xml version="1.0" encoding="UTF-8" standalone="yes"?>
<Relationships xmlns="http://schemas.openxmlformats.org/package/2006/relationships"><Relationship Id="rId2" Type="http://schemas.openxmlformats.org/officeDocument/2006/relationships/hyperlink" Target="https://www.merriam-webster.com/dictionary/advantage" TargetMode="External" /><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3" Type="http://schemas.openxmlformats.org/officeDocument/2006/relationships/hyperlink" Target="https://www.stylebyemilyhenderson.com/blog/pros-and-cons-of-custom-furniture" TargetMode="External" /><Relationship Id="rId2" Type="http://schemas.openxmlformats.org/officeDocument/2006/relationships/hyperlink" Target="https://www.ambiancewoodworks.com/blog/pros-and-cons-custom-furniture" TargetMode="External" /><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57822-D815-848A-17CE-64FDF6B96EFA}"/>
              </a:ext>
            </a:extLst>
          </p:cNvPr>
          <p:cNvSpPr>
            <a:spLocks noGrp="1"/>
          </p:cNvSpPr>
          <p:nvPr>
            <p:ph type="title"/>
          </p:nvPr>
        </p:nvSpPr>
        <p:spPr>
          <a:xfrm>
            <a:off x="2784930" y="448129"/>
            <a:ext cx="6903356" cy="1641927"/>
          </a:xfrm>
        </p:spPr>
        <p:txBody>
          <a:bodyPr/>
          <a:lstStyle/>
          <a:p>
            <a:r>
              <a:rPr lang="en-US" dirty="0"/>
              <a:t> </a:t>
            </a:r>
            <a:r>
              <a:rPr lang="en-US" dirty="0">
                <a:solidFill>
                  <a:schemeClr val="bg1"/>
                </a:solidFill>
              </a:rPr>
              <a:t>Introduction</a:t>
            </a:r>
          </a:p>
        </p:txBody>
      </p:sp>
      <p:sp>
        <p:nvSpPr>
          <p:cNvPr id="3" name="Content Placeholder 2">
            <a:extLst>
              <a:ext uri="{FF2B5EF4-FFF2-40B4-BE49-F238E27FC236}">
                <a16:creationId xmlns:a16="http://schemas.microsoft.com/office/drawing/2014/main" id="{33EA3DDD-C14D-773C-C554-9B7C4C70896F}"/>
              </a:ext>
            </a:extLst>
          </p:cNvPr>
          <p:cNvSpPr>
            <a:spLocks noGrp="1"/>
          </p:cNvSpPr>
          <p:nvPr>
            <p:ph idx="1"/>
          </p:nvPr>
        </p:nvSpPr>
        <p:spPr>
          <a:xfrm>
            <a:off x="1560287" y="2621642"/>
            <a:ext cx="6159499" cy="3416300"/>
          </a:xfrm>
        </p:spPr>
        <p:txBody>
          <a:bodyPr/>
          <a:lstStyle/>
          <a:p>
            <a:r>
              <a:rPr lang="en-US" b="1" dirty="0">
                <a:solidFill>
                  <a:schemeClr val="accent1"/>
                </a:solidFill>
              </a:rPr>
              <a:t>NAME</a:t>
            </a:r>
            <a:r>
              <a:rPr lang="en-US" dirty="0"/>
              <a:t>: </a:t>
            </a:r>
            <a:r>
              <a:rPr lang="en-US" b="1" dirty="0"/>
              <a:t>sham</a:t>
            </a:r>
            <a:r>
              <a:rPr lang="en-US" dirty="0"/>
              <a:t> </a:t>
            </a:r>
            <a:r>
              <a:rPr lang="en-US" b="1" dirty="0"/>
              <a:t>Kumar</a:t>
            </a:r>
            <a:r>
              <a:rPr lang="en-US" dirty="0"/>
              <a:t>. </a:t>
            </a:r>
            <a:r>
              <a:rPr lang="en-US" b="1" dirty="0"/>
              <a:t>V</a:t>
            </a:r>
          </a:p>
          <a:p>
            <a:r>
              <a:rPr lang="en-US" b="1" dirty="0">
                <a:solidFill>
                  <a:schemeClr val="accent1"/>
                </a:solidFill>
              </a:rPr>
              <a:t>NM ID NUMBER:  </a:t>
            </a:r>
            <a:r>
              <a:rPr lang="en-US" b="1" dirty="0">
                <a:solidFill>
                  <a:schemeClr val="tx1"/>
                </a:solidFill>
              </a:rPr>
              <a:t>astvu25025024u18026</a:t>
            </a:r>
          </a:p>
          <a:p>
            <a:r>
              <a:rPr lang="en-US" b="1" dirty="0">
                <a:solidFill>
                  <a:schemeClr val="accent1"/>
                </a:solidFill>
              </a:rPr>
              <a:t>COLLEGE NAME: </a:t>
            </a:r>
            <a:r>
              <a:rPr lang="en-US" b="1" dirty="0">
                <a:solidFill>
                  <a:schemeClr val="tx1"/>
                </a:solidFill>
              </a:rPr>
              <a:t>SKP Arts&amp;science college </a:t>
            </a:r>
          </a:p>
          <a:p>
            <a:r>
              <a:rPr lang="en-US" b="1" dirty="0">
                <a:solidFill>
                  <a:schemeClr val="accent1"/>
                </a:solidFill>
              </a:rPr>
              <a:t>COLLEGE CODE: </a:t>
            </a:r>
            <a:r>
              <a:rPr lang="en-US" b="1" dirty="0">
                <a:solidFill>
                  <a:schemeClr val="tx1"/>
                </a:solidFill>
              </a:rPr>
              <a:t>250</a:t>
            </a:r>
            <a:endParaRPr lang="en-US" b="1" dirty="0">
              <a:solidFill>
                <a:schemeClr val="accent1"/>
              </a:solidFill>
            </a:endParaRPr>
          </a:p>
          <a:p>
            <a:r>
              <a:rPr lang="en-US" b="1" dirty="0">
                <a:solidFill>
                  <a:schemeClr val="accent1"/>
                </a:solidFill>
              </a:rPr>
              <a:t>REGISTER</a:t>
            </a:r>
            <a:r>
              <a:rPr lang="en-US" b="1" dirty="0"/>
              <a:t> </a:t>
            </a:r>
            <a:r>
              <a:rPr lang="en-US" b="1" dirty="0">
                <a:solidFill>
                  <a:schemeClr val="accent1"/>
                </a:solidFill>
              </a:rPr>
              <a:t>NUMBER: </a:t>
            </a:r>
            <a:r>
              <a:rPr lang="en-US" b="1" dirty="0">
                <a:solidFill>
                  <a:schemeClr val="tx1"/>
                </a:solidFill>
              </a:rPr>
              <a:t>25024U18026</a:t>
            </a:r>
          </a:p>
          <a:p>
            <a:r>
              <a:rPr lang="en-US" b="1" dirty="0">
                <a:solidFill>
                  <a:schemeClr val="accent1"/>
                </a:solidFill>
              </a:rPr>
              <a:t>DEPARTMENT: </a:t>
            </a:r>
            <a:r>
              <a:rPr lang="en-US" b="1" dirty="0">
                <a:solidFill>
                  <a:schemeClr val="tx1"/>
                </a:solidFill>
              </a:rPr>
              <a:t>B.sc(Computer science) 2th year</a:t>
            </a:r>
            <a:endParaRPr lang="en-US" b="1" dirty="0">
              <a:solidFill>
                <a:schemeClr val="accent1"/>
              </a:solidFill>
            </a:endParaRPr>
          </a:p>
          <a:p>
            <a:r>
              <a:rPr lang="en-US" b="1" dirty="0">
                <a:solidFill>
                  <a:schemeClr val="accent1"/>
                </a:solidFill>
              </a:rPr>
              <a:t>PROJECT TITLE:  </a:t>
            </a:r>
            <a:r>
              <a:rPr lang="en-US" b="1" dirty="0">
                <a:solidFill>
                  <a:schemeClr val="tx1"/>
                </a:solidFill>
              </a:rPr>
              <a:t>The</a:t>
            </a:r>
            <a:r>
              <a:rPr lang="en-US" b="1" dirty="0">
                <a:solidFill>
                  <a:schemeClr val="accent1"/>
                </a:solidFill>
              </a:rPr>
              <a:t> </a:t>
            </a:r>
            <a:r>
              <a:rPr lang="en-US" b="1" dirty="0">
                <a:solidFill>
                  <a:schemeClr val="tx1"/>
                </a:solidFill>
              </a:rPr>
              <a:t>SV</a:t>
            </a:r>
            <a:r>
              <a:rPr lang="en-US" b="1" dirty="0">
                <a:solidFill>
                  <a:schemeClr val="accent1"/>
                </a:solidFill>
              </a:rPr>
              <a:t> </a:t>
            </a:r>
            <a:r>
              <a:rPr lang="en-US" b="1" dirty="0">
                <a:solidFill>
                  <a:schemeClr val="tx1"/>
                </a:solidFill>
              </a:rPr>
              <a:t>Furniture</a:t>
            </a:r>
            <a:r>
              <a:rPr lang="en-US" b="1" dirty="0">
                <a:solidFill>
                  <a:schemeClr val="accent1"/>
                </a:solidFill>
              </a:rPr>
              <a:t> </a:t>
            </a:r>
            <a:r>
              <a:rPr lang="en-US" b="1" dirty="0">
                <a:solidFill>
                  <a:schemeClr val="tx1"/>
                </a:solidFill>
              </a:rPr>
              <a:t>Company</a:t>
            </a:r>
          </a:p>
          <a:p>
            <a:endParaRPr lang="en-US" b="1" dirty="0">
              <a:solidFill>
                <a:schemeClr val="tx1"/>
              </a:solidFill>
            </a:endParaRPr>
          </a:p>
          <a:p>
            <a:pPr marL="0" indent="0">
              <a:buNone/>
            </a:pPr>
            <a:endParaRPr lang="en-US" b="1" dirty="0">
              <a:solidFill>
                <a:schemeClr val="tx1"/>
              </a:solidFill>
            </a:endParaRPr>
          </a:p>
        </p:txBody>
      </p:sp>
      <p:sp>
        <p:nvSpPr>
          <p:cNvPr id="5" name="TextBox 4">
            <a:extLst>
              <a:ext uri="{FF2B5EF4-FFF2-40B4-BE49-F238E27FC236}">
                <a16:creationId xmlns:a16="http://schemas.microsoft.com/office/drawing/2014/main" id="{D999B07B-3FF2-54FC-9A3C-74B9AE025690}"/>
              </a:ext>
            </a:extLst>
          </p:cNvPr>
          <p:cNvSpPr txBox="1"/>
          <p:nvPr/>
        </p:nvSpPr>
        <p:spPr>
          <a:xfrm>
            <a:off x="1424214" y="2505528"/>
            <a:ext cx="6295571" cy="3532414"/>
          </a:xfrm>
          <a:prstGeom prst="rect">
            <a:avLst/>
          </a:prstGeom>
          <a:noFill/>
        </p:spPr>
        <p:txBody>
          <a:bodyPr wrap="square" rtlCol="0">
            <a:spAutoFit/>
          </a:bodyPr>
          <a:lstStyle/>
          <a:p>
            <a:pPr algn="l"/>
            <a:endParaRPr lang="en-US" dirty="0"/>
          </a:p>
        </p:txBody>
      </p:sp>
    </p:spTree>
    <p:extLst>
      <p:ext uri="{BB962C8B-B14F-4D97-AF65-F5344CB8AC3E}">
        <p14:creationId xmlns:p14="http://schemas.microsoft.com/office/powerpoint/2010/main" val="2863731280"/>
      </p:ext>
    </p:extLst>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4CCA8-4C7D-433F-44D8-1CE5483EE66E}"/>
              </a:ext>
            </a:extLst>
          </p:cNvPr>
          <p:cNvSpPr>
            <a:spLocks noGrp="1"/>
          </p:cNvSpPr>
          <p:nvPr>
            <p:ph type="title"/>
          </p:nvPr>
        </p:nvSpPr>
        <p:spPr/>
        <p:txBody>
          <a:bodyPr/>
          <a:lstStyle/>
          <a:p>
            <a:r>
              <a:rPr lang="en-US" dirty="0">
                <a:solidFill>
                  <a:schemeClr val="bg1"/>
                </a:solidFill>
              </a:rPr>
              <a:t> </a:t>
            </a:r>
            <a:r>
              <a:rPr lang="en-US" b="1" dirty="0">
                <a:solidFill>
                  <a:schemeClr val="bg1"/>
                </a:solidFill>
              </a:rPr>
              <a:t>The</a:t>
            </a:r>
            <a:r>
              <a:rPr lang="en-US" dirty="0">
                <a:solidFill>
                  <a:schemeClr val="bg1"/>
                </a:solidFill>
              </a:rPr>
              <a:t> </a:t>
            </a:r>
            <a:r>
              <a:rPr lang="en-US" b="1" dirty="0">
                <a:solidFill>
                  <a:schemeClr val="bg1"/>
                </a:solidFill>
              </a:rPr>
              <a:t>SV</a:t>
            </a:r>
            <a:r>
              <a:rPr lang="en-US" dirty="0">
                <a:solidFill>
                  <a:schemeClr val="bg1"/>
                </a:solidFill>
              </a:rPr>
              <a:t> </a:t>
            </a:r>
            <a:r>
              <a:rPr lang="en-US" b="1" dirty="0">
                <a:solidFill>
                  <a:schemeClr val="bg1"/>
                </a:solidFill>
              </a:rPr>
              <a:t>Furniture</a:t>
            </a:r>
            <a:r>
              <a:rPr lang="en-US" dirty="0">
                <a:solidFill>
                  <a:schemeClr val="bg1"/>
                </a:solidFill>
              </a:rPr>
              <a:t> </a:t>
            </a:r>
            <a:r>
              <a:rPr lang="en-US" b="1" dirty="0">
                <a:solidFill>
                  <a:schemeClr val="bg1"/>
                </a:solidFill>
              </a:rPr>
              <a:t>Company</a:t>
            </a:r>
          </a:p>
        </p:txBody>
      </p:sp>
      <p:sp>
        <p:nvSpPr>
          <p:cNvPr id="4" name="Text Placeholder 3">
            <a:extLst>
              <a:ext uri="{FF2B5EF4-FFF2-40B4-BE49-F238E27FC236}">
                <a16:creationId xmlns:a16="http://schemas.microsoft.com/office/drawing/2014/main" id="{4FD33A90-BA6A-5428-30D0-FED419E03D7B}"/>
              </a:ext>
            </a:extLst>
          </p:cNvPr>
          <p:cNvSpPr>
            <a:spLocks noGrp="1"/>
          </p:cNvSpPr>
          <p:nvPr>
            <p:ph type="body" idx="1"/>
          </p:nvPr>
        </p:nvSpPr>
        <p:spPr/>
        <p:txBody>
          <a:bodyPr/>
          <a:lstStyle/>
          <a:p>
            <a:endParaRPr lang="en-US"/>
          </a:p>
        </p:txBody>
      </p:sp>
      <p:pic>
        <p:nvPicPr>
          <p:cNvPr id="3" name="Picture 2">
            <a:extLst>
              <a:ext uri="{FF2B5EF4-FFF2-40B4-BE49-F238E27FC236}">
                <a16:creationId xmlns:a16="http://schemas.microsoft.com/office/drawing/2014/main" id="{6A720289-3126-83DD-D236-DF6B8E0AA2F7}"/>
              </a:ext>
            </a:extLst>
          </p:cNvPr>
          <p:cNvPicPr>
            <a:picLocks noChangeAspect="1"/>
          </p:cNvPicPr>
          <p:nvPr/>
        </p:nvPicPr>
        <p:blipFill>
          <a:blip r:embed="rId2"/>
          <a:stretch>
            <a:fillRect/>
          </a:stretch>
        </p:blipFill>
        <p:spPr>
          <a:xfrm>
            <a:off x="4881384" y="1390288"/>
            <a:ext cx="4262616" cy="4798786"/>
          </a:xfrm>
          <a:prstGeom prst="rect">
            <a:avLst/>
          </a:prstGeom>
        </p:spPr>
      </p:pic>
    </p:spTree>
    <p:extLst>
      <p:ext uri="{BB962C8B-B14F-4D97-AF65-F5344CB8AC3E}">
        <p14:creationId xmlns:p14="http://schemas.microsoft.com/office/powerpoint/2010/main" val="2329111073"/>
      </p:ext>
    </p:extLst>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B143F-2FE7-E598-D274-2ACB7F4C5C93}"/>
              </a:ext>
            </a:extLst>
          </p:cNvPr>
          <p:cNvSpPr>
            <a:spLocks noGrp="1"/>
          </p:cNvSpPr>
          <p:nvPr>
            <p:ph type="title"/>
          </p:nvPr>
        </p:nvSpPr>
        <p:spPr>
          <a:xfrm>
            <a:off x="3043359" y="1028097"/>
            <a:ext cx="6571060" cy="706964"/>
          </a:xfrm>
        </p:spPr>
        <p:txBody>
          <a:bodyPr/>
          <a:lstStyle/>
          <a:p>
            <a:r>
              <a:rPr lang="en-US"/>
              <a:t>objectives</a:t>
            </a:r>
          </a:p>
        </p:txBody>
      </p:sp>
      <p:sp>
        <p:nvSpPr>
          <p:cNvPr id="3" name="Content Placeholder 2">
            <a:extLst>
              <a:ext uri="{FF2B5EF4-FFF2-40B4-BE49-F238E27FC236}">
                <a16:creationId xmlns:a16="http://schemas.microsoft.com/office/drawing/2014/main" id="{A6396CDD-5CF8-D180-5757-B7A19F69B82C}"/>
              </a:ext>
            </a:extLst>
          </p:cNvPr>
          <p:cNvSpPr>
            <a:spLocks noGrp="1"/>
          </p:cNvSpPr>
          <p:nvPr>
            <p:ph idx="1"/>
          </p:nvPr>
        </p:nvSpPr>
        <p:spPr/>
        <p:txBody>
          <a:bodyPr>
            <a:normAutofit fontScale="92500" lnSpcReduction="10000"/>
          </a:bodyPr>
          <a:lstStyle/>
          <a:p>
            <a:r>
              <a:rPr lang="en-US" b="1" dirty="0"/>
              <a:t>1.Market ExpansionFrom local (Kumbakonam) to wider Tamil Nadu &amp; Pan-India through online presence.</a:t>
            </a:r>
          </a:p>
          <a:p>
            <a:r>
              <a:rPr lang="en-US" b="1" dirty="0"/>
              <a:t>2. Brand PositioningBuild identity around heritage, premium wood, and sustainable craftsmanship.</a:t>
            </a:r>
          </a:p>
          <a:p>
            <a:r>
              <a:rPr lang="en-US" b="1" dirty="0"/>
              <a:t>3. Customer Trust &amp; RetentionOffer after-sales service, warranty, and customization options.Encourage referrals and repeat customers.</a:t>
            </a:r>
          </a:p>
          <a:p>
            <a:r>
              <a:rPr lang="en-US" b="1" dirty="0"/>
              <a:t>4. Product DiversificationExpand from dining tables/beds → modular designs, office furniture, decor.</a:t>
            </a:r>
          </a:p>
          <a:p>
            <a:r>
              <a:rPr lang="en-US" b="1" dirty="0"/>
              <a:t>5. Sales ChannelsLeverage Instagram, Facebook Marketplace, and Google Business for orders.</a:t>
            </a:r>
          </a:p>
        </p:txBody>
      </p:sp>
    </p:spTree>
    <p:extLst>
      <p:ext uri="{BB962C8B-B14F-4D97-AF65-F5344CB8AC3E}">
        <p14:creationId xmlns:p14="http://schemas.microsoft.com/office/powerpoint/2010/main" val="2276222385"/>
      </p:ext>
    </p:extLst>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7DDB6-BF4D-C162-7B71-73A45CC951C1}"/>
              </a:ext>
            </a:extLst>
          </p:cNvPr>
          <p:cNvSpPr>
            <a:spLocks noGrp="1"/>
          </p:cNvSpPr>
          <p:nvPr>
            <p:ph type="title"/>
          </p:nvPr>
        </p:nvSpPr>
        <p:spPr>
          <a:xfrm>
            <a:off x="2317645" y="1028097"/>
            <a:ext cx="6571060" cy="706964"/>
          </a:xfrm>
        </p:spPr>
        <p:txBody>
          <a:bodyPr/>
          <a:lstStyle/>
          <a:p>
            <a:r>
              <a:rPr lang="en-US"/>
              <a:t>system requirement</a:t>
            </a:r>
          </a:p>
        </p:txBody>
      </p:sp>
      <p:sp>
        <p:nvSpPr>
          <p:cNvPr id="4" name="Content Placeholder 3">
            <a:extLst>
              <a:ext uri="{FF2B5EF4-FFF2-40B4-BE49-F238E27FC236}">
                <a16:creationId xmlns:a16="http://schemas.microsoft.com/office/drawing/2014/main" id="{82427DA7-C0DC-AAC8-6920-E95537AA5C8C}"/>
              </a:ext>
            </a:extLst>
          </p:cNvPr>
          <p:cNvSpPr>
            <a:spLocks noGrp="1"/>
          </p:cNvSpPr>
          <p:nvPr>
            <p:ph idx="1"/>
          </p:nvPr>
        </p:nvSpPr>
        <p:spPr>
          <a:xfrm>
            <a:off x="866215" y="2676071"/>
            <a:ext cx="7279928" cy="3692072"/>
          </a:xfrm>
        </p:spPr>
        <p:txBody>
          <a:bodyPr>
            <a:normAutofit fontScale="70000" lnSpcReduction="20000"/>
          </a:bodyPr>
          <a:lstStyle/>
          <a:p>
            <a:r>
              <a:rPr lang="en-US" b="1" dirty="0"/>
              <a:t>1.Functional RequirementsWebsite must display:Home, About, Gallery, Contact pages.Product catalog with images, names, and prices.“Get a Free Quote” button linking to contact/order form.Customer contact details (phone, email, address).Allow customers to:Request quotes online.Call/email directly from the site.View products in gallery format (grid with images).Admin (you) should be able to:Update product images, descriptions, and prices.Add/remove new furniture items.</a:t>
            </a:r>
          </a:p>
          <a:p>
            <a:r>
              <a:rPr lang="en-US" b="1" dirty="0"/>
              <a:t>2. Non-Functional RequirementsPerformance: Pages must load in under 3 seconds on 4G.Availability: Website should be accessible 24/7.Scalability: Should handle 500+ users simultaneously.Security:HTTPS encryption.Form data validation (to avoid spam).Usability: Mobile-first responsive design.</a:t>
            </a:r>
          </a:p>
          <a:p>
            <a:r>
              <a:rPr lang="en-US" b="1" dirty="0"/>
              <a:t>3. Hardware RequirementsClient Side (User Device):Any smartphone/PC with browser support (Chrome, Safari, Edge).Min. 2 GB RAM, 1 GHz CPU.Server Side (Hosting Server):Processor: Dual Core or higher.RAM: 4 GB minimum.Storage: 50 GB SSD.Bandwidth: At least 1 TB/month.</a:t>
            </a:r>
          </a:p>
          <a:p>
            <a:r>
              <a:rPr lang="en-US" b="1" dirty="0"/>
              <a:t>4. Software RequirementsFrontend: HTML5, CSS3, JavaScript.Backend (optional for dynamic features): Node.js / PHP / Python Django.Database (if storing customer requests): MySQL / MongoDB.Hosting: Apache / Nginx web server.Other Tools:Git for version control.SSL for security.</a:t>
            </a:r>
          </a:p>
        </p:txBody>
      </p:sp>
    </p:spTree>
    <p:extLst>
      <p:ext uri="{BB962C8B-B14F-4D97-AF65-F5344CB8AC3E}">
        <p14:creationId xmlns:p14="http://schemas.microsoft.com/office/powerpoint/2010/main" val="4052657671"/>
      </p:ext>
    </p:extLst>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4C1A-B71D-9EBA-74FD-17AFAE3EC401}"/>
              </a:ext>
            </a:extLst>
          </p:cNvPr>
          <p:cNvSpPr>
            <a:spLocks noGrp="1"/>
          </p:cNvSpPr>
          <p:nvPr>
            <p:ph type="title"/>
          </p:nvPr>
        </p:nvSpPr>
        <p:spPr>
          <a:xfrm>
            <a:off x="2871002" y="973668"/>
            <a:ext cx="6571060" cy="706964"/>
          </a:xfrm>
        </p:spPr>
        <p:txBody>
          <a:bodyPr/>
          <a:lstStyle/>
          <a:p>
            <a:r>
              <a:rPr lang="en-US"/>
              <a:t>obstacles</a:t>
            </a:r>
          </a:p>
        </p:txBody>
      </p:sp>
      <p:sp>
        <p:nvSpPr>
          <p:cNvPr id="3" name="Content Placeholder 2">
            <a:extLst>
              <a:ext uri="{FF2B5EF4-FFF2-40B4-BE49-F238E27FC236}">
                <a16:creationId xmlns:a16="http://schemas.microsoft.com/office/drawing/2014/main" id="{4FA6A036-D6AD-AD31-799E-DE72DC59B62A}"/>
              </a:ext>
            </a:extLst>
          </p:cNvPr>
          <p:cNvSpPr>
            <a:spLocks noGrp="1"/>
          </p:cNvSpPr>
          <p:nvPr>
            <p:ph idx="1"/>
          </p:nvPr>
        </p:nvSpPr>
        <p:spPr>
          <a:xfrm>
            <a:off x="784573" y="2468032"/>
            <a:ext cx="6619244" cy="3416300"/>
          </a:xfrm>
        </p:spPr>
        <p:txBody>
          <a:bodyPr/>
          <a:lstStyle/>
          <a:p>
            <a:r>
              <a:rPr lang="en-US" b="1" dirty="0"/>
              <a:t>1. Accessibility gapsThe “☰ Menu” isn’t interactive yet (needs JS or &lt;button&gt; role).Color contrast of text/buttons should be checked against WCAG standards.</a:t>
            </a:r>
          </a:p>
          <a:p>
            <a:r>
              <a:rPr lang="en-US" b="1" dirty="0"/>
              <a:t>2. Performance The Unsplash images are very high-resolution (1880px+) and may load slowly on mobiles.Consider adding loading="lazy"</a:t>
            </a:r>
          </a:p>
        </p:txBody>
      </p:sp>
    </p:spTree>
    <p:extLst>
      <p:ext uri="{BB962C8B-B14F-4D97-AF65-F5344CB8AC3E}">
        <p14:creationId xmlns:p14="http://schemas.microsoft.com/office/powerpoint/2010/main" val="2631316320"/>
      </p:ext>
    </p:extLst>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83FA3-2DA8-AC51-A931-EA893FC95A3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4491FBA-F649-0DC9-0FE0-3FF94F7073E4}"/>
              </a:ext>
            </a:extLst>
          </p:cNvPr>
          <p:cNvSpPr>
            <a:spLocks noGrp="1"/>
          </p:cNvSpPr>
          <p:nvPr>
            <p:ph idx="1"/>
          </p:nvPr>
        </p:nvSpPr>
        <p:spPr/>
        <p:txBody>
          <a:bodyPr/>
          <a:lstStyle/>
          <a:p>
            <a:r>
              <a:rPr lang="en-US" b="1" dirty="0"/>
              <a:t>3. SEO issuesMissing &lt;meta keywords&gt; (optional, but still helpful).Could add structured data (e.g., Product schema for your furniture items).No &lt;h1&gt; heading defined yet — add one at the start of the hero (# Authentic Handcrafted Furniture).</a:t>
            </a:r>
          </a:p>
          <a:p>
            <a:r>
              <a:rPr lang="en-US" b="1" dirty="0"/>
              <a:t>4. ResponsivenessCards are good, but the grid may feel tight on smaller screens. Add some padding or a single-column layout under 480px.</a:t>
            </a:r>
          </a:p>
          <a:p>
            <a:r>
              <a:rPr lang="en-US" b="1" dirty="0"/>
              <a:t>5. Navigation / UXNo sticky “Contact” or “Call Now” button in the hero (users might bounce before scrolling).</a:t>
            </a:r>
          </a:p>
        </p:txBody>
      </p:sp>
    </p:spTree>
    <p:extLst>
      <p:ext uri="{BB962C8B-B14F-4D97-AF65-F5344CB8AC3E}">
        <p14:creationId xmlns:p14="http://schemas.microsoft.com/office/powerpoint/2010/main" val="3559484692"/>
      </p:ext>
    </p:extLst>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BFE83-28F2-CF9F-2228-ED3D4B578DB1}"/>
              </a:ext>
            </a:extLst>
          </p:cNvPr>
          <p:cNvSpPr>
            <a:spLocks noGrp="1"/>
          </p:cNvSpPr>
          <p:nvPr>
            <p:ph type="title"/>
          </p:nvPr>
        </p:nvSpPr>
        <p:spPr>
          <a:xfrm>
            <a:off x="2358571" y="892024"/>
            <a:ext cx="5223847" cy="813403"/>
          </a:xfrm>
        </p:spPr>
        <p:txBody>
          <a:bodyPr/>
          <a:lstStyle/>
          <a:p>
            <a:r>
              <a:rPr lang="en-US" dirty="0"/>
              <a:t> Cover Slide</a:t>
            </a:r>
          </a:p>
        </p:txBody>
      </p:sp>
      <p:sp>
        <p:nvSpPr>
          <p:cNvPr id="3" name="Content Placeholder 2">
            <a:extLst>
              <a:ext uri="{FF2B5EF4-FFF2-40B4-BE49-F238E27FC236}">
                <a16:creationId xmlns:a16="http://schemas.microsoft.com/office/drawing/2014/main" id="{BDA91567-EA6A-181F-5E62-8D09B1C9343F}"/>
              </a:ext>
            </a:extLst>
          </p:cNvPr>
          <p:cNvSpPr>
            <a:spLocks noGrp="1"/>
          </p:cNvSpPr>
          <p:nvPr>
            <p:ph idx="1"/>
          </p:nvPr>
        </p:nvSpPr>
        <p:spPr>
          <a:xfrm>
            <a:off x="866216" y="2603499"/>
            <a:ext cx="6780998" cy="3447143"/>
          </a:xfrm>
        </p:spPr>
        <p:txBody>
          <a:bodyPr/>
          <a:lstStyle/>
          <a:p>
            <a:r>
              <a:rPr lang="en-US" b="1" dirty="0"/>
              <a:t> Title: The SV Furniture company
Subtitle: Authentic Handcrafted Wooden Furniture
Tagline: Tailored woodwork that lasts generations
Logo (if any) or representative wood texture background</a:t>
            </a:r>
          </a:p>
        </p:txBody>
      </p:sp>
    </p:spTree>
    <p:extLst>
      <p:ext uri="{BB962C8B-B14F-4D97-AF65-F5344CB8AC3E}">
        <p14:creationId xmlns:p14="http://schemas.microsoft.com/office/powerpoint/2010/main" val="4245481856"/>
      </p:ext>
    </p:extLst>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62292-0936-788F-D212-B3FF8F70EC9F}"/>
              </a:ext>
            </a:extLst>
          </p:cNvPr>
          <p:cNvSpPr>
            <a:spLocks noGrp="1"/>
          </p:cNvSpPr>
          <p:nvPr>
            <p:ph type="title"/>
          </p:nvPr>
        </p:nvSpPr>
        <p:spPr>
          <a:xfrm>
            <a:off x="1867865" y="704169"/>
            <a:ext cx="6268640" cy="848321"/>
          </a:xfrm>
        </p:spPr>
        <p:txBody>
          <a:bodyPr/>
          <a:lstStyle/>
          <a:p>
            <a:br>
              <a:rPr lang="en-US" dirty="0"/>
            </a:br>
            <a:br>
              <a:rPr lang="en-US" dirty="0"/>
            </a:br>
            <a:br>
              <a:rPr lang="en-US" dirty="0"/>
            </a:br>
            <a:br>
              <a:rPr lang="en-US" dirty="0"/>
            </a:br>
            <a:br>
              <a:rPr lang="en-US" dirty="0"/>
            </a:br>
            <a:r>
              <a:rPr lang="en-US" dirty="0"/>
              <a:t>   Welcome / Introduction</a:t>
            </a:r>
            <a:br>
              <a:rPr lang="en-US" dirty="0"/>
            </a:br>
            <a:br>
              <a:rPr lang="en-US" dirty="0"/>
            </a:br>
            <a:br>
              <a:rPr lang="en-US" dirty="0"/>
            </a:br>
            <a:br>
              <a:rPr lang="en-US" dirty="0"/>
            </a:br>
            <a:endParaRPr lang="en-US" dirty="0"/>
          </a:p>
        </p:txBody>
      </p:sp>
      <p:sp>
        <p:nvSpPr>
          <p:cNvPr id="3" name="Content Placeholder 2">
            <a:extLst>
              <a:ext uri="{FF2B5EF4-FFF2-40B4-BE49-F238E27FC236}">
                <a16:creationId xmlns:a16="http://schemas.microsoft.com/office/drawing/2014/main" id="{DA4028B0-2262-91DB-CDBC-D264D76975D4}"/>
              </a:ext>
            </a:extLst>
          </p:cNvPr>
          <p:cNvSpPr>
            <a:spLocks noGrp="1"/>
          </p:cNvSpPr>
          <p:nvPr>
            <p:ph idx="1"/>
          </p:nvPr>
        </p:nvSpPr>
        <p:spPr>
          <a:xfrm>
            <a:off x="716644" y="2540001"/>
            <a:ext cx="7901214" cy="3220356"/>
          </a:xfrm>
        </p:spPr>
        <p:txBody>
          <a:bodyPr/>
          <a:lstStyle/>
          <a:p>
            <a:r>
              <a:rPr lang="en-US" b="1" dirty="0"/>
              <a:t> Message from Founder Sham Kumar. V 
Brief overview of company vision</a:t>
            </a:r>
          </a:p>
        </p:txBody>
      </p:sp>
    </p:spTree>
    <p:extLst>
      <p:ext uri="{BB962C8B-B14F-4D97-AF65-F5344CB8AC3E}">
        <p14:creationId xmlns:p14="http://schemas.microsoft.com/office/powerpoint/2010/main" val="3725870808"/>
      </p:ext>
    </p:extLst>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909-C7BA-A4E0-3BA8-68542A61A7D5}"/>
              </a:ext>
            </a:extLst>
          </p:cNvPr>
          <p:cNvSpPr>
            <a:spLocks noGrp="1"/>
          </p:cNvSpPr>
          <p:nvPr>
            <p:ph type="title"/>
          </p:nvPr>
        </p:nvSpPr>
        <p:spPr>
          <a:xfrm>
            <a:off x="2312684" y="771071"/>
            <a:ext cx="6495673" cy="1097643"/>
          </a:xfrm>
        </p:spPr>
        <p:txBody>
          <a:bodyPr/>
          <a:lstStyle/>
          <a:p>
            <a:r>
              <a:rPr lang="en-US" dirty="0"/>
              <a:t>  Company History</a:t>
            </a:r>
          </a:p>
        </p:txBody>
      </p:sp>
      <p:sp>
        <p:nvSpPr>
          <p:cNvPr id="3" name="Content Placeholder 2">
            <a:extLst>
              <a:ext uri="{FF2B5EF4-FFF2-40B4-BE49-F238E27FC236}">
                <a16:creationId xmlns:a16="http://schemas.microsoft.com/office/drawing/2014/main" id="{673D1000-0D72-2A8E-4B35-D244DCE61C30}"/>
              </a:ext>
            </a:extLst>
          </p:cNvPr>
          <p:cNvSpPr>
            <a:spLocks noGrp="1"/>
          </p:cNvSpPr>
          <p:nvPr>
            <p:ph idx="1"/>
          </p:nvPr>
        </p:nvSpPr>
        <p:spPr>
          <a:xfrm>
            <a:off x="825501" y="2603500"/>
            <a:ext cx="7347856" cy="2748643"/>
          </a:xfrm>
        </p:spPr>
        <p:txBody>
          <a:bodyPr>
            <a:normAutofit/>
          </a:bodyPr>
          <a:lstStyle/>
          <a:p>
            <a:r>
              <a:rPr lang="en-US" b="1" dirty="0"/>
              <a:t> 15+ years of craftsmanship
Located in Kumbakonam , Tamil Nadu
Heritage woodworking background</a:t>
            </a:r>
          </a:p>
        </p:txBody>
      </p:sp>
    </p:spTree>
    <p:extLst>
      <p:ext uri="{BB962C8B-B14F-4D97-AF65-F5344CB8AC3E}">
        <p14:creationId xmlns:p14="http://schemas.microsoft.com/office/powerpoint/2010/main" val="3424109330"/>
      </p:ext>
    </p:extLst>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686FF-9325-6474-3D37-B3FD038F7CEF}"/>
              </a:ext>
            </a:extLst>
          </p:cNvPr>
          <p:cNvSpPr>
            <a:spLocks noGrp="1"/>
          </p:cNvSpPr>
          <p:nvPr>
            <p:ph type="title"/>
          </p:nvPr>
        </p:nvSpPr>
        <p:spPr>
          <a:xfrm>
            <a:off x="2939142" y="907143"/>
            <a:ext cx="7741170" cy="1081918"/>
          </a:xfrm>
        </p:spPr>
        <p:txBody>
          <a:bodyPr/>
          <a:lstStyle/>
          <a:p>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r>
              <a:rPr lang="en-US" b="0" i="0" dirty="0">
                <a:effectLst/>
                <a:latin typeface="fkGrotesk"/>
              </a:rPr>
              <a:t> Our Values</a:t>
            </a:r>
            <a:br>
              <a:rPr lang="en-US" b="0" i="0" dirty="0">
                <a:effectLst/>
                <a:latin typeface="fkGrotesk"/>
              </a:rPr>
            </a:br>
            <a:br>
              <a:rPr lang="en-US" b="0" i="0" dirty="0">
                <a:effectLst/>
                <a:latin typeface="fkGroteskNeue"/>
              </a:rPr>
            </a:br>
            <a:br>
              <a:rPr lang="en-US" dirty="0"/>
            </a:br>
            <a:br>
              <a:rPr lang="en-US" dirty="0"/>
            </a:br>
            <a:br>
              <a:rPr lang="en-US" dirty="0"/>
            </a:br>
            <a:br>
              <a:rPr lang="en-US" dirty="0"/>
            </a:br>
            <a:br>
              <a:rPr lang="en-US" dirty="0"/>
            </a:br>
            <a:br>
              <a:rPr lang="en-US" dirty="0"/>
            </a:br>
            <a:br>
              <a:rPr lang="en-US" dirty="0"/>
            </a:br>
            <a:br>
              <a:rPr lang="en-US" dirty="0"/>
            </a:br>
            <a:br>
              <a:rPr lang="en-US" dirty="0"/>
            </a:br>
            <a:endParaRPr lang="en-US" dirty="0"/>
          </a:p>
        </p:txBody>
      </p:sp>
      <p:sp>
        <p:nvSpPr>
          <p:cNvPr id="3" name="Content Placeholder 2">
            <a:extLst>
              <a:ext uri="{FF2B5EF4-FFF2-40B4-BE49-F238E27FC236}">
                <a16:creationId xmlns:a16="http://schemas.microsoft.com/office/drawing/2014/main" id="{7D3C8E09-F7AF-D1E6-4DF2-584CC8587E34}"/>
              </a:ext>
            </a:extLst>
          </p:cNvPr>
          <p:cNvSpPr>
            <a:spLocks noGrp="1"/>
          </p:cNvSpPr>
          <p:nvPr>
            <p:ph idx="1"/>
          </p:nvPr>
        </p:nvSpPr>
        <p:spPr/>
        <p:txBody>
          <a:bodyPr/>
          <a:lstStyle/>
          <a:p>
            <a:r>
              <a:rPr lang="en-US" b="1" dirty="0"/>
              <a:t> Craftsmanship, Trust &amp; Tradition
Sustainable sourcing from Tamil Nadu &amp; Kerala
Handmade quality furniture</a:t>
            </a:r>
          </a:p>
        </p:txBody>
      </p:sp>
    </p:spTree>
    <p:extLst>
      <p:ext uri="{BB962C8B-B14F-4D97-AF65-F5344CB8AC3E}">
        <p14:creationId xmlns:p14="http://schemas.microsoft.com/office/powerpoint/2010/main" val="939861287"/>
      </p:ext>
    </p:extLst>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1ECB5-9241-23D0-1EAC-8D1F740F9E1D}"/>
              </a:ext>
            </a:extLst>
          </p:cNvPr>
          <p:cNvSpPr>
            <a:spLocks noGrp="1"/>
          </p:cNvSpPr>
          <p:nvPr>
            <p:ph type="title"/>
          </p:nvPr>
        </p:nvSpPr>
        <p:spPr>
          <a:xfrm>
            <a:off x="2145287" y="711198"/>
            <a:ext cx="7409188" cy="2971801"/>
          </a:xfrm>
        </p:spPr>
        <p:txBody>
          <a:bodyPr/>
          <a:lstStyle/>
          <a:p>
            <a:br>
              <a:rPr lang="en-US" dirty="0"/>
            </a:br>
            <a:br>
              <a:rPr lang="en-US" dirty="0"/>
            </a:br>
            <a:br>
              <a:rPr lang="en-US" dirty="0"/>
            </a:br>
            <a:br>
              <a:rPr lang="en-US" dirty="0"/>
            </a:br>
            <a:br>
              <a:rPr lang="en-US" dirty="0"/>
            </a:br>
            <a:br>
              <a:rPr lang="en-US" dirty="0"/>
            </a:br>
            <a:br>
              <a:rPr lang="en-US" dirty="0"/>
            </a:br>
            <a:br>
              <a:rPr lang="en-US" dirty="0"/>
            </a:br>
            <a:br>
              <a:rPr lang="en-US" dirty="0"/>
            </a:br>
            <a:r>
              <a:rPr lang="en-US" b="0" i="0" dirty="0">
                <a:effectLst/>
                <a:latin typeface="fkGrotesk"/>
              </a:rPr>
              <a:t>Meet the Founder</a:t>
            </a:r>
            <a:br>
              <a:rPr lang="en-US" b="0" i="0" dirty="0">
                <a:effectLst/>
                <a:latin typeface="fkGrotesk"/>
              </a:rPr>
            </a:br>
            <a:br>
              <a:rPr lang="en-US" b="0" i="0" dirty="0">
                <a:effectLst/>
                <a:latin typeface="fkGroteskNeue"/>
              </a:rPr>
            </a:br>
            <a:br>
              <a:rPr lang="en-US" b="0" i="0" dirty="0">
                <a:effectLst/>
                <a:latin typeface="fkGroteskNeue"/>
              </a:rPr>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endParaRPr lang="en-US" dirty="0"/>
          </a:p>
        </p:txBody>
      </p:sp>
      <p:sp>
        <p:nvSpPr>
          <p:cNvPr id="3" name="Content Placeholder 2">
            <a:extLst>
              <a:ext uri="{FF2B5EF4-FFF2-40B4-BE49-F238E27FC236}">
                <a16:creationId xmlns:a16="http://schemas.microsoft.com/office/drawing/2014/main" id="{439A30D1-BA60-6C2B-6BDD-A1DECA9D525F}"/>
              </a:ext>
            </a:extLst>
          </p:cNvPr>
          <p:cNvSpPr>
            <a:spLocks noGrp="1"/>
          </p:cNvSpPr>
          <p:nvPr>
            <p:ph sz="half" idx="1"/>
          </p:nvPr>
        </p:nvSpPr>
        <p:spPr/>
        <p:txBody>
          <a:bodyPr/>
          <a:lstStyle/>
          <a:p>
            <a:r>
              <a:rPr lang="en-US" b="1" dirty="0"/>
              <a:t> Profile of Sham Kumar. V
His expertise in traditional joinery &amp; finishing</a:t>
            </a:r>
          </a:p>
          <a:p>
            <a:pPr marL="0" indent="0">
              <a:buNone/>
            </a:pPr>
            <a:endParaRPr lang="en-US" b="1" dirty="0"/>
          </a:p>
        </p:txBody>
      </p:sp>
      <p:sp>
        <p:nvSpPr>
          <p:cNvPr id="5" name="Content Placeholder 4">
            <a:extLst>
              <a:ext uri="{FF2B5EF4-FFF2-40B4-BE49-F238E27FC236}">
                <a16:creationId xmlns:a16="http://schemas.microsoft.com/office/drawing/2014/main" id="{B1A018F6-39B9-9073-4ACF-A8D410762B67}"/>
              </a:ext>
            </a:extLst>
          </p:cNvPr>
          <p:cNvSpPr>
            <a:spLocks noGrp="1"/>
          </p:cNvSpPr>
          <p:nvPr>
            <p:ph sz="half" idx="2"/>
          </p:nvPr>
        </p:nvSpPr>
        <p:spPr/>
        <p:txBody>
          <a:bodyPr/>
          <a:lstStyle/>
          <a:p>
            <a:pPr lvl="1"/>
            <a:r>
              <a:rPr lang="en-US" u="sng" dirty="0"/>
              <a:t>Index page:</a:t>
            </a:r>
            <a:endParaRPr lang="en-US" dirty="0"/>
          </a:p>
        </p:txBody>
      </p:sp>
      <p:pic>
        <p:nvPicPr>
          <p:cNvPr id="4" name="Picture 3">
            <a:extLst>
              <a:ext uri="{FF2B5EF4-FFF2-40B4-BE49-F238E27FC236}">
                <a16:creationId xmlns:a16="http://schemas.microsoft.com/office/drawing/2014/main" id="{006BBD89-EF9E-9D20-228E-5E7E5003823E}"/>
              </a:ext>
            </a:extLst>
          </p:cNvPr>
          <p:cNvPicPr>
            <a:picLocks noChangeAspect="1"/>
          </p:cNvPicPr>
          <p:nvPr/>
        </p:nvPicPr>
        <p:blipFill>
          <a:blip r:embed="rId2"/>
          <a:stretch>
            <a:fillRect/>
          </a:stretch>
        </p:blipFill>
        <p:spPr>
          <a:xfrm>
            <a:off x="4839511" y="3077251"/>
            <a:ext cx="3161489" cy="2772231"/>
          </a:xfrm>
          <a:prstGeom prst="rect">
            <a:avLst/>
          </a:prstGeom>
        </p:spPr>
      </p:pic>
    </p:spTree>
    <p:extLst>
      <p:ext uri="{BB962C8B-B14F-4D97-AF65-F5344CB8AC3E}">
        <p14:creationId xmlns:p14="http://schemas.microsoft.com/office/powerpoint/2010/main" val="787960294"/>
      </p:ext>
    </p:extLst>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E796-FEC8-CE28-B245-8397E243EA19}"/>
              </a:ext>
            </a:extLst>
          </p:cNvPr>
          <p:cNvSpPr>
            <a:spLocks noGrp="1"/>
          </p:cNvSpPr>
          <p:nvPr>
            <p:ph type="title"/>
          </p:nvPr>
        </p:nvSpPr>
        <p:spPr>
          <a:xfrm>
            <a:off x="1224642" y="838200"/>
            <a:ext cx="7220857" cy="713014"/>
          </a:xfrm>
        </p:spPr>
        <p:txBody>
          <a:bodyPr/>
          <a:lstStyle/>
          <a:p>
            <a:r>
              <a:rPr lang="en-US" dirty="0"/>
              <a:t> Crafting Process Overview</a:t>
            </a:r>
          </a:p>
        </p:txBody>
      </p:sp>
      <p:sp>
        <p:nvSpPr>
          <p:cNvPr id="3" name="Content Placeholder 2">
            <a:extLst>
              <a:ext uri="{FF2B5EF4-FFF2-40B4-BE49-F238E27FC236}">
                <a16:creationId xmlns:a16="http://schemas.microsoft.com/office/drawing/2014/main" id="{93DCCE54-8F23-F516-21E0-FA1B65E9BBFB}"/>
              </a:ext>
            </a:extLst>
          </p:cNvPr>
          <p:cNvSpPr>
            <a:spLocks noGrp="1"/>
          </p:cNvSpPr>
          <p:nvPr>
            <p:ph idx="1"/>
          </p:nvPr>
        </p:nvSpPr>
        <p:spPr/>
        <p:txBody>
          <a:bodyPr/>
          <a:lstStyle/>
          <a:p>
            <a:r>
              <a:rPr lang="en-US" b="1" u="sng" dirty="0"/>
              <a:t> Step 1: Wood selection from premium mills
Step 2: Hand joinery and construction
Step 3: Smooth finishing and protective oils</a:t>
            </a:r>
          </a:p>
        </p:txBody>
      </p:sp>
    </p:spTree>
    <p:extLst>
      <p:ext uri="{BB962C8B-B14F-4D97-AF65-F5344CB8AC3E}">
        <p14:creationId xmlns:p14="http://schemas.microsoft.com/office/powerpoint/2010/main" val="575149695"/>
      </p:ext>
    </p:extLst>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A51A3-8115-1E22-CF80-4F5EE685F40C}"/>
              </a:ext>
            </a:extLst>
          </p:cNvPr>
          <p:cNvSpPr>
            <a:spLocks noGrp="1"/>
          </p:cNvSpPr>
          <p:nvPr>
            <p:ph type="title"/>
          </p:nvPr>
        </p:nvSpPr>
        <p:spPr>
          <a:xfrm>
            <a:off x="2186214" y="589644"/>
            <a:ext cx="7066643" cy="1260928"/>
          </a:xfrm>
        </p:spPr>
        <p:txBody>
          <a:bodyPr/>
          <a:lstStyle/>
          <a:p>
            <a:r>
              <a:rPr lang="en-US" dirty="0"/>
              <a:t>  Specialty Products Introduction</a:t>
            </a:r>
          </a:p>
        </p:txBody>
      </p:sp>
      <p:sp>
        <p:nvSpPr>
          <p:cNvPr id="3" name="Content Placeholder 2">
            <a:extLst>
              <a:ext uri="{FF2B5EF4-FFF2-40B4-BE49-F238E27FC236}">
                <a16:creationId xmlns:a16="http://schemas.microsoft.com/office/drawing/2014/main" id="{F89AB25C-90F9-EE6F-2C5E-C12BE8BF15FF}"/>
              </a:ext>
            </a:extLst>
          </p:cNvPr>
          <p:cNvSpPr>
            <a:spLocks noGrp="1"/>
          </p:cNvSpPr>
          <p:nvPr>
            <p:ph idx="1"/>
          </p:nvPr>
        </p:nvSpPr>
        <p:spPr/>
        <p:txBody>
          <a:bodyPr/>
          <a:lstStyle/>
          <a:p>
            <a:r>
              <a:rPr lang="en-US" b="1" u="sng" dirty="0">
                <a:solidFill>
                  <a:schemeClr val="accent1"/>
                </a:solidFill>
              </a:rPr>
              <a:t> </a:t>
            </a:r>
            <a:r>
              <a:rPr lang="en-US" b="1" u="sng" dirty="0" err="1">
                <a:solidFill>
                  <a:schemeClr val="accent1"/>
                </a:solidFill>
              </a:rPr>
              <a:t>Customised</a:t>
            </a:r>
            <a:r>
              <a:rPr lang="en-US" b="1" u="sng" dirty="0">
                <a:solidFill>
                  <a:schemeClr val="accent1"/>
                </a:solidFill>
              </a:rPr>
              <a:t> to your home and style</a:t>
            </a:r>
          </a:p>
        </p:txBody>
      </p:sp>
      <p:pic>
        <p:nvPicPr>
          <p:cNvPr id="4" name="Picture 3">
            <a:extLst>
              <a:ext uri="{FF2B5EF4-FFF2-40B4-BE49-F238E27FC236}">
                <a16:creationId xmlns:a16="http://schemas.microsoft.com/office/drawing/2014/main" id="{399416B7-7364-5049-2DE3-6841A86FC32E}"/>
              </a:ext>
            </a:extLst>
          </p:cNvPr>
          <p:cNvPicPr>
            <a:picLocks noChangeAspect="1"/>
          </p:cNvPicPr>
          <p:nvPr/>
        </p:nvPicPr>
        <p:blipFill>
          <a:blip r:embed="rId2"/>
          <a:stretch>
            <a:fillRect/>
          </a:stretch>
        </p:blipFill>
        <p:spPr>
          <a:xfrm>
            <a:off x="1161142" y="3011085"/>
            <a:ext cx="5034641" cy="2945214"/>
          </a:xfrm>
          <a:prstGeom prst="rect">
            <a:avLst/>
          </a:prstGeom>
        </p:spPr>
      </p:pic>
    </p:spTree>
    <p:extLst>
      <p:ext uri="{BB962C8B-B14F-4D97-AF65-F5344CB8AC3E}">
        <p14:creationId xmlns:p14="http://schemas.microsoft.com/office/powerpoint/2010/main" val="4251955064"/>
      </p:ext>
    </p:extLst>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04E3-11D6-6019-A632-DC4C3E6C9A05}"/>
              </a:ext>
            </a:extLst>
          </p:cNvPr>
          <p:cNvSpPr>
            <a:spLocks noGrp="1"/>
          </p:cNvSpPr>
          <p:nvPr>
            <p:ph type="title"/>
          </p:nvPr>
        </p:nvSpPr>
        <p:spPr>
          <a:xfrm>
            <a:off x="2961716" y="865419"/>
            <a:ext cx="6571060" cy="913189"/>
          </a:xfrm>
        </p:spPr>
        <p:txBody>
          <a:bodyPr/>
          <a:lstStyle/>
          <a:p>
            <a:r>
              <a:rPr lang="en-US" b="0" i="0" dirty="0">
                <a:effectLst/>
                <a:latin typeface="fkGrotesk"/>
              </a:rPr>
              <a:t>Dining Table</a:t>
            </a:r>
          </a:p>
        </p:txBody>
      </p:sp>
      <p:sp>
        <p:nvSpPr>
          <p:cNvPr id="3" name="Content Placeholder 2">
            <a:extLst>
              <a:ext uri="{FF2B5EF4-FFF2-40B4-BE49-F238E27FC236}">
                <a16:creationId xmlns:a16="http://schemas.microsoft.com/office/drawing/2014/main" id="{BCBA4E7C-DEFE-C32B-7732-0838D6B2E600}"/>
              </a:ext>
            </a:extLst>
          </p:cNvPr>
          <p:cNvSpPr>
            <a:spLocks noGrp="1"/>
          </p:cNvSpPr>
          <p:nvPr>
            <p:ph idx="1"/>
          </p:nvPr>
        </p:nvSpPr>
        <p:spPr/>
        <p:txBody>
          <a:bodyPr/>
          <a:lstStyle/>
          <a:p>
            <a:r>
              <a:rPr lang="en-US" b="0" i="0" dirty="0">
                <a:effectLst/>
                <a:latin typeface="fkGrotesk"/>
              </a:rPr>
              <a:t> Image of dining table
Price: ₹37,000
Features: Solid wood, handcrafted, durable finish</a:t>
            </a:r>
          </a:p>
          <a:p>
            <a:r>
              <a:rPr lang="en-US" dirty="0">
                <a:latin typeface="fkGrotesk"/>
              </a:rPr>
              <a:t>Image:</a:t>
            </a:r>
          </a:p>
          <a:p>
            <a:pPr marL="0" indent="0">
              <a:buNone/>
            </a:pPr>
            <a:endParaRPr lang="en-US" b="0" i="0" dirty="0">
              <a:effectLst/>
              <a:latin typeface="fkGrotesk"/>
            </a:endParaRPr>
          </a:p>
        </p:txBody>
      </p:sp>
      <p:pic>
        <p:nvPicPr>
          <p:cNvPr id="6" name="Picture 5">
            <a:extLst>
              <a:ext uri="{FF2B5EF4-FFF2-40B4-BE49-F238E27FC236}">
                <a16:creationId xmlns:a16="http://schemas.microsoft.com/office/drawing/2014/main" id="{9A0F0834-11A1-5F98-CFF0-AF972481C906}"/>
              </a:ext>
            </a:extLst>
          </p:cNvPr>
          <p:cNvPicPr>
            <a:picLocks noChangeAspect="1"/>
          </p:cNvPicPr>
          <p:nvPr/>
        </p:nvPicPr>
        <p:blipFill>
          <a:blip r:embed="rId2"/>
          <a:stretch>
            <a:fillRect/>
          </a:stretch>
        </p:blipFill>
        <p:spPr>
          <a:xfrm>
            <a:off x="1732643" y="4253284"/>
            <a:ext cx="5752817" cy="2599641"/>
          </a:xfrm>
          <a:prstGeom prst="rect">
            <a:avLst/>
          </a:prstGeom>
        </p:spPr>
      </p:pic>
    </p:spTree>
    <p:extLst>
      <p:ext uri="{BB962C8B-B14F-4D97-AF65-F5344CB8AC3E}">
        <p14:creationId xmlns:p14="http://schemas.microsoft.com/office/powerpoint/2010/main" val="2045729993"/>
      </p:ext>
    </p:extLst>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1E6E4-2FB8-3C57-3B1D-45B0FA74F4F0}"/>
              </a:ext>
            </a:extLst>
          </p:cNvPr>
          <p:cNvSpPr>
            <a:spLocks noGrp="1"/>
          </p:cNvSpPr>
          <p:nvPr>
            <p:ph type="title"/>
          </p:nvPr>
        </p:nvSpPr>
        <p:spPr>
          <a:xfrm>
            <a:off x="2081787" y="1554240"/>
            <a:ext cx="6571060" cy="706964"/>
          </a:xfrm>
        </p:spPr>
        <p:txBody>
          <a:bodyPr/>
          <a:lstStyle/>
          <a:p>
            <a:r>
              <a:rPr lang="en-US" b="0" i="0" dirty="0">
                <a:effectLst/>
                <a:latin typeface="fkGrotesk"/>
              </a:rPr>
              <a:t>Custom Bookshelf</a:t>
            </a:r>
            <a:br>
              <a:rPr lang="en-US" b="0" i="0" dirty="0">
                <a:effectLst/>
                <a:latin typeface="fkGrotesk"/>
              </a:rPr>
            </a:br>
            <a:br>
              <a:rPr lang="en-US" b="0" i="0" dirty="0">
                <a:effectLst/>
                <a:latin typeface="fkGroteskNeue"/>
              </a:rPr>
            </a:br>
            <a:endParaRPr lang="en-US" dirty="0"/>
          </a:p>
        </p:txBody>
      </p:sp>
      <p:sp>
        <p:nvSpPr>
          <p:cNvPr id="3" name="Content Placeholder 2">
            <a:extLst>
              <a:ext uri="{FF2B5EF4-FFF2-40B4-BE49-F238E27FC236}">
                <a16:creationId xmlns:a16="http://schemas.microsoft.com/office/drawing/2014/main" id="{9B800AD4-CFF5-C9E9-7090-CC0062C5DD01}"/>
              </a:ext>
            </a:extLst>
          </p:cNvPr>
          <p:cNvSpPr>
            <a:spLocks noGrp="1"/>
          </p:cNvSpPr>
          <p:nvPr>
            <p:ph idx="1"/>
          </p:nvPr>
        </p:nvSpPr>
        <p:spPr/>
        <p:txBody>
          <a:bodyPr/>
          <a:lstStyle/>
          <a:p>
            <a:r>
              <a:rPr lang="en-US" b="0" i="0">
                <a:effectLst/>
                <a:latin typeface="fkGroteskNeue"/>
              </a:rPr>
              <a:t>Image of bookshelf</a:t>
            </a:r>
          </a:p>
          <a:p>
            <a:r>
              <a:rPr lang="en-US" b="0" i="0">
                <a:effectLst/>
                <a:latin typeface="fkGroteskNeue"/>
              </a:rPr>
              <a:t>Price: ₹26,000</a:t>
            </a:r>
          </a:p>
          <a:p>
            <a:r>
              <a:rPr lang="en-US" b="0" i="0">
                <a:effectLst/>
                <a:latin typeface="fkGroteskNeue"/>
              </a:rPr>
              <a:t>Features: Staggered shelves, tailored design</a:t>
            </a:r>
          </a:p>
        </p:txBody>
      </p:sp>
      <p:pic>
        <p:nvPicPr>
          <p:cNvPr id="4" name="Picture 3">
            <a:extLst>
              <a:ext uri="{FF2B5EF4-FFF2-40B4-BE49-F238E27FC236}">
                <a16:creationId xmlns:a16="http://schemas.microsoft.com/office/drawing/2014/main" id="{FFAEF124-3FF9-BD1B-9A45-41797DC499E4}"/>
              </a:ext>
            </a:extLst>
          </p:cNvPr>
          <p:cNvPicPr>
            <a:picLocks noChangeAspect="1"/>
          </p:cNvPicPr>
          <p:nvPr/>
        </p:nvPicPr>
        <p:blipFill>
          <a:blip r:embed="rId2"/>
          <a:stretch>
            <a:fillRect/>
          </a:stretch>
        </p:blipFill>
        <p:spPr>
          <a:xfrm>
            <a:off x="5768465" y="2445657"/>
            <a:ext cx="2884382" cy="4064000"/>
          </a:xfrm>
          <a:prstGeom prst="rect">
            <a:avLst/>
          </a:prstGeom>
        </p:spPr>
      </p:pic>
    </p:spTree>
    <p:extLst>
      <p:ext uri="{BB962C8B-B14F-4D97-AF65-F5344CB8AC3E}">
        <p14:creationId xmlns:p14="http://schemas.microsoft.com/office/powerpoint/2010/main" val="1009227328"/>
      </p:ext>
    </p:extLst>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9A3A4-3974-555E-1AE0-23F27BD0125A}"/>
              </a:ext>
            </a:extLst>
          </p:cNvPr>
          <p:cNvSpPr>
            <a:spLocks noGrp="1"/>
          </p:cNvSpPr>
          <p:nvPr>
            <p:ph type="title"/>
          </p:nvPr>
        </p:nvSpPr>
        <p:spPr>
          <a:xfrm>
            <a:off x="2572940" y="838200"/>
            <a:ext cx="6571060" cy="550332"/>
          </a:xfrm>
        </p:spPr>
        <p:txBody>
          <a:bodyPr/>
          <a:lstStyle/>
          <a:p>
            <a:br>
              <a:rPr lang="en-US" b="0" i="0" dirty="0">
                <a:effectLst/>
                <a:latin typeface="fkGrotesk"/>
              </a:rPr>
            </a:br>
            <a:r>
              <a:rPr lang="en-US" b="0" i="0" dirty="0">
                <a:effectLst/>
                <a:latin typeface="fkGrotesk"/>
              </a:rPr>
              <a:t> King Bed Frame</a:t>
            </a:r>
          </a:p>
        </p:txBody>
      </p:sp>
      <p:sp>
        <p:nvSpPr>
          <p:cNvPr id="3" name="Content Placeholder 2">
            <a:extLst>
              <a:ext uri="{FF2B5EF4-FFF2-40B4-BE49-F238E27FC236}">
                <a16:creationId xmlns:a16="http://schemas.microsoft.com/office/drawing/2014/main" id="{9EE98252-4B1B-3919-E257-143AE6CB4862}"/>
              </a:ext>
            </a:extLst>
          </p:cNvPr>
          <p:cNvSpPr>
            <a:spLocks noGrp="1"/>
          </p:cNvSpPr>
          <p:nvPr>
            <p:ph idx="1"/>
          </p:nvPr>
        </p:nvSpPr>
        <p:spPr/>
        <p:txBody>
          <a:bodyPr/>
          <a:lstStyle/>
          <a:p>
            <a:r>
              <a:rPr lang="en-US" b="0" i="0" dirty="0">
                <a:effectLst/>
                <a:latin typeface="fkGroteskNeue"/>
              </a:rPr>
              <a:t>Image of bed frame</a:t>
            </a:r>
          </a:p>
          <a:p>
            <a:r>
              <a:rPr lang="en-US" b="0" i="0" dirty="0">
                <a:effectLst/>
                <a:latin typeface="fkGroteskNeue"/>
              </a:rPr>
              <a:t>Price: ₹56,000</a:t>
            </a:r>
          </a:p>
          <a:p>
            <a:r>
              <a:rPr lang="en-US" b="0" i="0" dirty="0">
                <a:effectLst/>
                <a:latin typeface="fkGroteskNeue"/>
              </a:rPr>
              <a:t>Features: Minimalist design,  solid wood</a:t>
            </a:r>
          </a:p>
        </p:txBody>
      </p:sp>
      <p:sp>
        <p:nvSpPr>
          <p:cNvPr id="12" name="TextBox 11">
            <a:extLst>
              <a:ext uri="{FF2B5EF4-FFF2-40B4-BE49-F238E27FC236}">
                <a16:creationId xmlns:a16="http://schemas.microsoft.com/office/drawing/2014/main" id="{754C453B-AF7A-F321-B683-5AA52C37C8BF}"/>
              </a:ext>
            </a:extLst>
          </p:cNvPr>
          <p:cNvSpPr txBox="1"/>
          <p:nvPr/>
        </p:nvSpPr>
        <p:spPr>
          <a:xfrm>
            <a:off x="2784929" y="2505528"/>
            <a:ext cx="2701471" cy="4524315"/>
          </a:xfrm>
          <a:prstGeom prst="rect">
            <a:avLst/>
          </a:prstGeom>
          <a:noFill/>
        </p:spPr>
        <p:txBody>
          <a:bodyPr wrap="square" rtlCol="0">
            <a:spAutoFit/>
          </a:bodyPr>
          <a:lstStyle/>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p:txBody>
      </p:sp>
      <p:pic>
        <p:nvPicPr>
          <p:cNvPr id="14" name="Picture 13">
            <a:extLst>
              <a:ext uri="{FF2B5EF4-FFF2-40B4-BE49-F238E27FC236}">
                <a16:creationId xmlns:a16="http://schemas.microsoft.com/office/drawing/2014/main" id="{B031F3F4-2C7A-408D-1598-0B9243F159FE}"/>
              </a:ext>
            </a:extLst>
          </p:cNvPr>
          <p:cNvPicPr>
            <a:picLocks noChangeAspect="1"/>
          </p:cNvPicPr>
          <p:nvPr/>
        </p:nvPicPr>
        <p:blipFill>
          <a:blip r:embed="rId2"/>
          <a:stretch>
            <a:fillRect/>
          </a:stretch>
        </p:blipFill>
        <p:spPr>
          <a:xfrm>
            <a:off x="1092091" y="3915761"/>
            <a:ext cx="4943146" cy="2358571"/>
          </a:xfrm>
          <a:prstGeom prst="rect">
            <a:avLst/>
          </a:prstGeom>
        </p:spPr>
      </p:pic>
    </p:spTree>
    <p:extLst>
      <p:ext uri="{BB962C8B-B14F-4D97-AF65-F5344CB8AC3E}">
        <p14:creationId xmlns:p14="http://schemas.microsoft.com/office/powerpoint/2010/main" val="3127962252"/>
      </p:ext>
    </p:extLst>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58B86-E88C-9354-1CBC-766C0887B5FC}"/>
              </a:ext>
            </a:extLst>
          </p:cNvPr>
          <p:cNvSpPr>
            <a:spLocks noGrp="1"/>
          </p:cNvSpPr>
          <p:nvPr>
            <p:ph type="title"/>
          </p:nvPr>
        </p:nvSpPr>
        <p:spPr>
          <a:xfrm>
            <a:off x="2766785" y="1547096"/>
            <a:ext cx="6448490" cy="771071"/>
          </a:xfrm>
        </p:spPr>
        <p:txBody>
          <a:bodyPr/>
          <a:lstStyle/>
          <a:p>
            <a:r>
              <a:rPr lang="en-US" b="0" i="0" dirty="0">
                <a:effectLst/>
                <a:latin typeface="fkGrotesk"/>
              </a:rPr>
              <a:t> Garden Bench</a:t>
            </a:r>
            <a:br>
              <a:rPr lang="en-US" b="0" i="0" dirty="0">
                <a:effectLst/>
                <a:latin typeface="fkGrotesk"/>
              </a:rPr>
            </a:br>
            <a:br>
              <a:rPr lang="en-US" b="0" i="0" dirty="0">
                <a:effectLst/>
                <a:latin typeface="fkGroteskNeue"/>
              </a:rPr>
            </a:br>
            <a:endParaRPr lang="en-US" dirty="0"/>
          </a:p>
        </p:txBody>
      </p:sp>
      <p:sp>
        <p:nvSpPr>
          <p:cNvPr id="3" name="Content Placeholder 2">
            <a:extLst>
              <a:ext uri="{FF2B5EF4-FFF2-40B4-BE49-F238E27FC236}">
                <a16:creationId xmlns:a16="http://schemas.microsoft.com/office/drawing/2014/main" id="{5E2CA4C3-63BF-B38C-7C5E-D9F5969341D8}"/>
              </a:ext>
            </a:extLst>
          </p:cNvPr>
          <p:cNvSpPr>
            <a:spLocks noGrp="1"/>
          </p:cNvSpPr>
          <p:nvPr>
            <p:ph idx="1"/>
          </p:nvPr>
        </p:nvSpPr>
        <p:spPr/>
        <p:txBody>
          <a:bodyPr/>
          <a:lstStyle/>
          <a:p>
            <a:r>
              <a:rPr lang="en-US" b="0" i="0">
                <a:effectLst/>
                <a:latin typeface="fkGroteskNeue"/>
              </a:rPr>
              <a:t>Image of garden bench</a:t>
            </a:r>
          </a:p>
          <a:p>
            <a:r>
              <a:rPr lang="en-US" b="0" i="0">
                <a:effectLst/>
                <a:latin typeface="fkGroteskNeue"/>
              </a:rPr>
              <a:t>Price: ₹23,000</a:t>
            </a:r>
          </a:p>
          <a:p>
            <a:r>
              <a:rPr lang="en-US" b="0" i="0">
                <a:effectLst/>
                <a:latin typeface="fkGroteskNeue"/>
              </a:rPr>
              <a:t>Features: Outdoor durability, classic look</a:t>
            </a:r>
          </a:p>
        </p:txBody>
      </p:sp>
      <p:pic>
        <p:nvPicPr>
          <p:cNvPr id="4" name="Picture 3">
            <a:extLst>
              <a:ext uri="{FF2B5EF4-FFF2-40B4-BE49-F238E27FC236}">
                <a16:creationId xmlns:a16="http://schemas.microsoft.com/office/drawing/2014/main" id="{D12B82AC-BABD-9B58-C97A-3AE13AF28A5C}"/>
              </a:ext>
            </a:extLst>
          </p:cNvPr>
          <p:cNvPicPr>
            <a:picLocks noChangeAspect="1"/>
          </p:cNvPicPr>
          <p:nvPr/>
        </p:nvPicPr>
        <p:blipFill>
          <a:blip r:embed="rId2"/>
          <a:stretch>
            <a:fillRect/>
          </a:stretch>
        </p:blipFill>
        <p:spPr>
          <a:xfrm>
            <a:off x="5739528" y="2444356"/>
            <a:ext cx="2738949" cy="4087168"/>
          </a:xfrm>
          <a:prstGeom prst="rect">
            <a:avLst/>
          </a:prstGeom>
        </p:spPr>
      </p:pic>
    </p:spTree>
    <p:extLst>
      <p:ext uri="{BB962C8B-B14F-4D97-AF65-F5344CB8AC3E}">
        <p14:creationId xmlns:p14="http://schemas.microsoft.com/office/powerpoint/2010/main" val="476462530"/>
      </p:ext>
    </p:extLst>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9BC95-2DA4-E75A-940D-F13D75D545A4}"/>
              </a:ext>
            </a:extLst>
          </p:cNvPr>
          <p:cNvSpPr>
            <a:spLocks noGrp="1"/>
          </p:cNvSpPr>
          <p:nvPr>
            <p:ph type="title"/>
          </p:nvPr>
        </p:nvSpPr>
        <p:spPr>
          <a:xfrm>
            <a:off x="1474001" y="719668"/>
            <a:ext cx="6436284" cy="1139975"/>
          </a:xfrm>
        </p:spPr>
        <p:txBody>
          <a:bodyPr/>
          <a:lstStyle/>
          <a:p>
            <a:r>
              <a:rPr lang="en-US" b="0" i="0">
                <a:effectLst/>
                <a:latin typeface="fkGrotesk"/>
              </a:rPr>
              <a:t>Custom Orders &amp; Design Consults</a:t>
            </a:r>
          </a:p>
        </p:txBody>
      </p:sp>
      <p:sp>
        <p:nvSpPr>
          <p:cNvPr id="3" name="Content Placeholder 2">
            <a:extLst>
              <a:ext uri="{FF2B5EF4-FFF2-40B4-BE49-F238E27FC236}">
                <a16:creationId xmlns:a16="http://schemas.microsoft.com/office/drawing/2014/main" id="{C2BC7469-CBC1-E876-B7F7-2374019308FA}"/>
              </a:ext>
            </a:extLst>
          </p:cNvPr>
          <p:cNvSpPr>
            <a:spLocks noGrp="1"/>
          </p:cNvSpPr>
          <p:nvPr>
            <p:ph idx="1"/>
          </p:nvPr>
        </p:nvSpPr>
        <p:spPr>
          <a:xfrm>
            <a:off x="1138358" y="2520346"/>
            <a:ext cx="6771927" cy="2931583"/>
          </a:xfrm>
        </p:spPr>
        <p:txBody>
          <a:bodyPr/>
          <a:lstStyle/>
          <a:p>
            <a:r>
              <a:rPr lang="en-US" b="0" i="0">
                <a:effectLst/>
                <a:latin typeface="fkGroteskNeue"/>
              </a:rPr>
              <a:t>Explanation of bespoke services</a:t>
            </a:r>
          </a:p>
          <a:p>
            <a:r>
              <a:rPr lang="en-US" b="0" i="0">
                <a:effectLst/>
                <a:latin typeface="fkGroteskNeue"/>
              </a:rPr>
              <a:t>Custom sizes and finishes</a:t>
            </a:r>
          </a:p>
          <a:p>
            <a:r>
              <a:rPr lang="en-US" b="0" i="0">
                <a:effectLst/>
                <a:latin typeface="fkGroteskNeue"/>
              </a:rPr>
              <a:t>Design consultation details</a:t>
            </a:r>
          </a:p>
        </p:txBody>
      </p:sp>
      <p:pic>
        <p:nvPicPr>
          <p:cNvPr id="4" name="Picture 3">
            <a:extLst>
              <a:ext uri="{FF2B5EF4-FFF2-40B4-BE49-F238E27FC236}">
                <a16:creationId xmlns:a16="http://schemas.microsoft.com/office/drawing/2014/main" id="{AC68F550-D175-DB60-62A0-4E18CB201C75}"/>
              </a:ext>
            </a:extLst>
          </p:cNvPr>
          <p:cNvPicPr>
            <a:picLocks noChangeAspect="1"/>
          </p:cNvPicPr>
          <p:nvPr/>
        </p:nvPicPr>
        <p:blipFill>
          <a:blip r:embed="rId2"/>
          <a:stretch>
            <a:fillRect/>
          </a:stretch>
        </p:blipFill>
        <p:spPr>
          <a:xfrm>
            <a:off x="5181037" y="2520346"/>
            <a:ext cx="2611319" cy="3627966"/>
          </a:xfrm>
          <a:prstGeom prst="rect">
            <a:avLst/>
          </a:prstGeom>
        </p:spPr>
      </p:pic>
    </p:spTree>
    <p:extLst>
      <p:ext uri="{BB962C8B-B14F-4D97-AF65-F5344CB8AC3E}">
        <p14:creationId xmlns:p14="http://schemas.microsoft.com/office/powerpoint/2010/main" val="2548852498"/>
      </p:ext>
    </p:extLst>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4683D-EF7B-D0FC-20CD-FFF855824D91}"/>
              </a:ext>
            </a:extLst>
          </p:cNvPr>
          <p:cNvSpPr>
            <a:spLocks noGrp="1"/>
          </p:cNvSpPr>
          <p:nvPr>
            <p:ph type="title"/>
          </p:nvPr>
        </p:nvSpPr>
        <p:spPr>
          <a:xfrm>
            <a:off x="2254144" y="1608668"/>
            <a:ext cx="6571060" cy="706964"/>
          </a:xfrm>
        </p:spPr>
        <p:txBody>
          <a:bodyPr/>
          <a:lstStyle/>
          <a:p>
            <a:r>
              <a:rPr lang="en-US" b="0" i="0">
                <a:effectLst/>
                <a:latin typeface="fkGrotesk"/>
              </a:rPr>
              <a:t>Pan-India Delivery</a:t>
            </a:r>
            <a:br>
              <a:rPr lang="en-US" b="0" i="0">
                <a:effectLst/>
                <a:latin typeface="fkGrotesk"/>
              </a:rPr>
            </a:br>
            <a:br>
              <a:rPr lang="en-US" b="0" i="0">
                <a:effectLst/>
                <a:latin typeface="fkGroteskNeue"/>
              </a:rPr>
            </a:br>
            <a:endParaRPr lang="en-US"/>
          </a:p>
        </p:txBody>
      </p:sp>
      <p:sp>
        <p:nvSpPr>
          <p:cNvPr id="3" name="Content Placeholder 2">
            <a:extLst>
              <a:ext uri="{FF2B5EF4-FFF2-40B4-BE49-F238E27FC236}">
                <a16:creationId xmlns:a16="http://schemas.microsoft.com/office/drawing/2014/main" id="{6098C8FF-356C-75DD-45F8-1FC5F8E0D990}"/>
              </a:ext>
            </a:extLst>
          </p:cNvPr>
          <p:cNvSpPr>
            <a:spLocks noGrp="1"/>
          </p:cNvSpPr>
          <p:nvPr>
            <p:ph idx="1"/>
          </p:nvPr>
        </p:nvSpPr>
        <p:spPr>
          <a:xfrm>
            <a:off x="1262378" y="2834219"/>
            <a:ext cx="6619244" cy="3416300"/>
          </a:xfrm>
        </p:spPr>
        <p:txBody>
          <a:bodyPr>
            <a:normAutofit fontScale="85000" lnSpcReduction="20000"/>
          </a:bodyPr>
          <a:lstStyle/>
          <a:p>
            <a:r>
              <a:rPr lang="en-US" b="0" i="0" dirty="0">
                <a:effectLst/>
                <a:latin typeface="fkGroteskNeue"/>
              </a:rPr>
              <a:t>Explanation of nationwide shipping</a:t>
            </a:r>
          </a:p>
          <a:p>
            <a:r>
              <a:rPr lang="en-US" b="0" i="0" dirty="0">
                <a:effectLst/>
                <a:latin typeface="fkGroteskNeue"/>
              </a:rPr>
              <a:t>Packing and delivery guarantees</a:t>
            </a:r>
          </a:p>
          <a:p>
            <a:r>
              <a:rPr lang="en-US" b="0" i="0" dirty="0">
                <a:effectLst/>
                <a:latin typeface="fkGrotesk"/>
              </a:rPr>
              <a:t>Type1: After-sales Care</a:t>
            </a:r>
          </a:p>
          <a:p>
            <a:r>
              <a:rPr lang="en-US" b="0" i="0" dirty="0">
                <a:effectLst/>
                <a:latin typeface="fkGroteskNeue"/>
              </a:rPr>
              <a:t>Maintenance tips</a:t>
            </a:r>
          </a:p>
          <a:p>
            <a:r>
              <a:rPr lang="en-US" b="0" i="0" dirty="0">
                <a:effectLst/>
                <a:latin typeface="fkGroteskNeue"/>
              </a:rPr>
              <a:t>Customer support services</a:t>
            </a:r>
          </a:p>
          <a:p>
            <a:r>
              <a:rPr lang="en-US" b="0" i="0" dirty="0">
                <a:effectLst/>
                <a:latin typeface="fkGrotesk"/>
              </a:rPr>
              <a:t>Type2: Testimonials</a:t>
            </a:r>
          </a:p>
          <a:p>
            <a:r>
              <a:rPr lang="en-US" b="0" i="0" dirty="0">
                <a:effectLst/>
                <a:latin typeface="fkGroteskNeue"/>
              </a:rPr>
              <a:t>Customer quotes about quality and service</a:t>
            </a:r>
          </a:p>
          <a:p>
            <a:r>
              <a:rPr lang="en-US" b="0" i="0" dirty="0">
                <a:effectLst/>
                <a:latin typeface="fkGrotesk"/>
              </a:rPr>
              <a:t>Type3: Notable Projects</a:t>
            </a:r>
          </a:p>
          <a:p>
            <a:r>
              <a:rPr lang="en-US" b="0" i="0" dirty="0">
                <a:effectLst/>
                <a:latin typeface="fkGroteskNeue"/>
              </a:rPr>
              <a:t>Highlight a few large or special commissions</a:t>
            </a:r>
          </a:p>
          <a:p>
            <a:r>
              <a:rPr lang="en-US" b="0" i="0" dirty="0">
                <a:effectLst/>
                <a:latin typeface="fkGrotesk"/>
              </a:rPr>
              <a:t>Type4: Design &amp; Build Process (Detailed)</a:t>
            </a:r>
          </a:p>
          <a:p>
            <a:r>
              <a:rPr lang="en-US" b="0" i="0" dirty="0">
                <a:effectLst/>
                <a:latin typeface="fkGroteskNeue"/>
              </a:rPr>
              <a:t>Timeline or flow chart: from consultation to delivery</a:t>
            </a:r>
          </a:p>
        </p:txBody>
      </p:sp>
    </p:spTree>
    <p:extLst>
      <p:ext uri="{BB962C8B-B14F-4D97-AF65-F5344CB8AC3E}">
        <p14:creationId xmlns:p14="http://schemas.microsoft.com/office/powerpoint/2010/main" val="3878342420"/>
      </p:ext>
    </p:extLst>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58686-2328-3969-07B0-0DE0327E887F}"/>
              </a:ext>
            </a:extLst>
          </p:cNvPr>
          <p:cNvSpPr>
            <a:spLocks noGrp="1"/>
          </p:cNvSpPr>
          <p:nvPr>
            <p:ph type="title"/>
          </p:nvPr>
        </p:nvSpPr>
        <p:spPr>
          <a:xfrm>
            <a:off x="1709858" y="1073453"/>
            <a:ext cx="6571060" cy="706964"/>
          </a:xfrm>
        </p:spPr>
        <p:txBody>
          <a:bodyPr/>
          <a:lstStyle/>
          <a:p>
            <a:r>
              <a:rPr lang="en-US" b="0" i="0">
                <a:effectLst/>
                <a:latin typeface="fkGrotesk"/>
              </a:rPr>
              <a:t>Materials &amp; Sustainability</a:t>
            </a:r>
          </a:p>
        </p:txBody>
      </p:sp>
      <p:sp>
        <p:nvSpPr>
          <p:cNvPr id="3" name="Content Placeholder 2">
            <a:extLst>
              <a:ext uri="{FF2B5EF4-FFF2-40B4-BE49-F238E27FC236}">
                <a16:creationId xmlns:a16="http://schemas.microsoft.com/office/drawing/2014/main" id="{AEEEDA3E-A26D-D6E3-66AB-BEBC19BEC7D1}"/>
              </a:ext>
            </a:extLst>
          </p:cNvPr>
          <p:cNvSpPr>
            <a:spLocks noGrp="1"/>
          </p:cNvSpPr>
          <p:nvPr>
            <p:ph idx="1"/>
          </p:nvPr>
        </p:nvSpPr>
        <p:spPr>
          <a:xfrm>
            <a:off x="866216" y="2603500"/>
            <a:ext cx="6164141" cy="2258786"/>
          </a:xfrm>
        </p:spPr>
        <p:txBody>
          <a:bodyPr/>
          <a:lstStyle/>
          <a:p>
            <a:r>
              <a:rPr lang="en-US" b="0" i="0">
                <a:effectLst/>
                <a:latin typeface="fkGroteskNeue"/>
              </a:rPr>
              <a:t>Details about responsibly sourced wood</a:t>
            </a:r>
          </a:p>
          <a:p>
            <a:r>
              <a:rPr lang="en-US" b="0" i="0">
                <a:effectLst/>
                <a:latin typeface="fkGroteskNeue"/>
              </a:rPr>
              <a:t>Environmentally friendly finishing oils</a:t>
            </a:r>
          </a:p>
        </p:txBody>
      </p:sp>
      <p:pic>
        <p:nvPicPr>
          <p:cNvPr id="4" name="Picture 3">
            <a:extLst>
              <a:ext uri="{FF2B5EF4-FFF2-40B4-BE49-F238E27FC236}">
                <a16:creationId xmlns:a16="http://schemas.microsoft.com/office/drawing/2014/main" id="{C0870857-9D5C-60D4-E450-62AF0300B22F}"/>
              </a:ext>
            </a:extLst>
          </p:cNvPr>
          <p:cNvPicPr>
            <a:picLocks noChangeAspect="1"/>
          </p:cNvPicPr>
          <p:nvPr/>
        </p:nvPicPr>
        <p:blipFill>
          <a:blip r:embed="rId2"/>
          <a:stretch>
            <a:fillRect/>
          </a:stretch>
        </p:blipFill>
        <p:spPr>
          <a:xfrm>
            <a:off x="5678713" y="2392441"/>
            <a:ext cx="2948215" cy="4336143"/>
          </a:xfrm>
          <a:prstGeom prst="rect">
            <a:avLst/>
          </a:prstGeom>
        </p:spPr>
      </p:pic>
    </p:spTree>
    <p:extLst>
      <p:ext uri="{BB962C8B-B14F-4D97-AF65-F5344CB8AC3E}">
        <p14:creationId xmlns:p14="http://schemas.microsoft.com/office/powerpoint/2010/main" val="1689698287"/>
      </p:ext>
    </p:extLst>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B8276-A9D5-A1E2-873A-D54925B419E8}"/>
              </a:ext>
            </a:extLst>
          </p:cNvPr>
          <p:cNvSpPr>
            <a:spLocks noGrp="1"/>
          </p:cNvSpPr>
          <p:nvPr>
            <p:ph type="title"/>
          </p:nvPr>
        </p:nvSpPr>
        <p:spPr>
          <a:xfrm>
            <a:off x="1791502" y="973668"/>
            <a:ext cx="6571060" cy="706964"/>
          </a:xfrm>
        </p:spPr>
        <p:txBody>
          <a:bodyPr/>
          <a:lstStyle/>
          <a:p>
            <a:r>
              <a:rPr lang="en-US" b="0" i="0">
                <a:effectLst/>
                <a:latin typeface="fkGrotesk"/>
              </a:rPr>
              <a:t>Market Reach &amp; Clients</a:t>
            </a:r>
          </a:p>
        </p:txBody>
      </p:sp>
      <p:sp>
        <p:nvSpPr>
          <p:cNvPr id="3" name="Content Placeholder 2">
            <a:extLst>
              <a:ext uri="{FF2B5EF4-FFF2-40B4-BE49-F238E27FC236}">
                <a16:creationId xmlns:a16="http://schemas.microsoft.com/office/drawing/2014/main" id="{CE40E32C-559E-69EF-6AA9-B93C74BE943F}"/>
              </a:ext>
            </a:extLst>
          </p:cNvPr>
          <p:cNvSpPr>
            <a:spLocks noGrp="1"/>
          </p:cNvSpPr>
          <p:nvPr>
            <p:ph idx="1"/>
          </p:nvPr>
        </p:nvSpPr>
        <p:spPr>
          <a:xfrm>
            <a:off x="1569357" y="3129643"/>
            <a:ext cx="6313714" cy="1787071"/>
          </a:xfrm>
        </p:spPr>
        <p:txBody>
          <a:bodyPr/>
          <a:lstStyle/>
          <a:p>
            <a:r>
              <a:rPr lang="en-US" b="0" i="0">
                <a:effectLst/>
                <a:latin typeface="fkGroteskNeue"/>
              </a:rPr>
              <a:t>Geographic map with coverage area</a:t>
            </a:r>
          </a:p>
          <a:p>
            <a:r>
              <a:rPr lang="en-US" b="0" i="0">
                <a:effectLst/>
                <a:latin typeface="fkGroteskNeue"/>
              </a:rPr>
              <a:t>Client demographics or sectors served</a:t>
            </a:r>
          </a:p>
        </p:txBody>
      </p:sp>
    </p:spTree>
    <p:extLst>
      <p:ext uri="{BB962C8B-B14F-4D97-AF65-F5344CB8AC3E}">
        <p14:creationId xmlns:p14="http://schemas.microsoft.com/office/powerpoint/2010/main" val="4015786021"/>
      </p:ext>
    </p:extLst>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8B66A-459C-802B-4D85-7308BD283EFE}"/>
              </a:ext>
            </a:extLst>
          </p:cNvPr>
          <p:cNvSpPr>
            <a:spLocks noGrp="1"/>
          </p:cNvSpPr>
          <p:nvPr>
            <p:ph type="title"/>
          </p:nvPr>
        </p:nvSpPr>
        <p:spPr>
          <a:xfrm>
            <a:off x="2572940" y="1463525"/>
            <a:ext cx="6571060" cy="706964"/>
          </a:xfrm>
        </p:spPr>
        <p:txBody>
          <a:bodyPr/>
          <a:lstStyle/>
          <a:p>
            <a:r>
              <a:rPr lang="en-US" b="0" i="0">
                <a:effectLst/>
                <a:latin typeface="fkGrotesk"/>
              </a:rPr>
              <a:t>How to Order</a:t>
            </a:r>
            <a:br>
              <a:rPr lang="en-US" b="0" i="0">
                <a:effectLst/>
                <a:latin typeface="fkGrotesk"/>
              </a:rPr>
            </a:br>
            <a:br>
              <a:rPr lang="en-US" b="0" i="0">
                <a:effectLst/>
                <a:latin typeface="fkGroteskNeue"/>
              </a:rPr>
            </a:br>
            <a:endParaRPr lang="en-US"/>
          </a:p>
        </p:txBody>
      </p:sp>
      <p:sp>
        <p:nvSpPr>
          <p:cNvPr id="7" name="Content Placeholder 6">
            <a:extLst>
              <a:ext uri="{FF2B5EF4-FFF2-40B4-BE49-F238E27FC236}">
                <a16:creationId xmlns:a16="http://schemas.microsoft.com/office/drawing/2014/main" id="{06A64998-B44D-E359-A4E0-8542249D1884}"/>
              </a:ext>
            </a:extLst>
          </p:cNvPr>
          <p:cNvSpPr>
            <a:spLocks noGrp="1"/>
          </p:cNvSpPr>
          <p:nvPr>
            <p:ph idx="1"/>
          </p:nvPr>
        </p:nvSpPr>
        <p:spPr/>
        <p:txBody>
          <a:bodyPr/>
          <a:lstStyle/>
          <a:p>
            <a:r>
              <a:rPr lang="en-US" b="0" i="0">
                <a:effectLst/>
                <a:latin typeface="fkGroteskNeue"/>
              </a:rPr>
              <a:t>Contact methods</a:t>
            </a:r>
          </a:p>
          <a:p>
            <a:pPr lvl="1"/>
            <a:r>
              <a:rPr lang="en-US" b="0" i="0">
                <a:effectLst/>
                <a:latin typeface="fkGroteskNeue"/>
              </a:rPr>
              <a:t>Phone: +91 98765 43210</a:t>
            </a:r>
          </a:p>
          <a:p>
            <a:pPr lvl="1"/>
            <a:r>
              <a:rPr lang="en-US" b="0" i="0">
                <a:effectLst/>
                <a:latin typeface="fkGroteskNeue"/>
              </a:rPr>
              <a:t>Email: </a:t>
            </a:r>
            <a:r>
              <a:rPr lang="en-US" b="0" i="0">
                <a:effectLst/>
                <a:latin typeface="fkGroteskNeue"/>
                <a:hlinkClick r:id="rId2"/>
              </a:rPr>
              <a:t>shamkumar@woodcrafts.in</a:t>
            </a:r>
            <a:endParaRPr lang="en-US" b="0" i="0">
              <a:effectLst/>
              <a:latin typeface="fkGroteskNeue"/>
            </a:endParaRPr>
          </a:p>
          <a:p>
            <a:pPr lvl="1"/>
            <a:r>
              <a:rPr lang="en-US" b="0" i="0">
                <a:effectLst/>
                <a:latin typeface="fkGroteskNeue"/>
              </a:rPr>
              <a:t>Website/social media (if any)</a:t>
            </a:r>
          </a:p>
        </p:txBody>
      </p:sp>
      <p:pic>
        <p:nvPicPr>
          <p:cNvPr id="8" name="Picture 7">
            <a:extLst>
              <a:ext uri="{FF2B5EF4-FFF2-40B4-BE49-F238E27FC236}">
                <a16:creationId xmlns:a16="http://schemas.microsoft.com/office/drawing/2014/main" id="{657E4FA1-60C1-7BE1-198D-F1B635DF98C3}"/>
              </a:ext>
            </a:extLst>
          </p:cNvPr>
          <p:cNvPicPr>
            <a:picLocks noChangeAspect="1"/>
          </p:cNvPicPr>
          <p:nvPr/>
        </p:nvPicPr>
        <p:blipFill>
          <a:blip r:embed="rId3"/>
          <a:stretch>
            <a:fillRect/>
          </a:stretch>
        </p:blipFill>
        <p:spPr>
          <a:xfrm>
            <a:off x="2041072" y="4099075"/>
            <a:ext cx="6096000" cy="2590800"/>
          </a:xfrm>
          <a:prstGeom prst="rect">
            <a:avLst/>
          </a:prstGeom>
        </p:spPr>
      </p:pic>
    </p:spTree>
    <p:extLst>
      <p:ext uri="{BB962C8B-B14F-4D97-AF65-F5344CB8AC3E}">
        <p14:creationId xmlns:p14="http://schemas.microsoft.com/office/powerpoint/2010/main" val="1213701948"/>
      </p:ext>
    </p:extLst>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0B177-CF8B-CE80-9DB4-F83D5F7DA65F}"/>
              </a:ext>
            </a:extLst>
          </p:cNvPr>
          <p:cNvSpPr>
            <a:spLocks noGrp="1"/>
          </p:cNvSpPr>
          <p:nvPr>
            <p:ph type="title"/>
          </p:nvPr>
        </p:nvSpPr>
        <p:spPr>
          <a:xfrm>
            <a:off x="2299501" y="973668"/>
            <a:ext cx="6571060" cy="706964"/>
          </a:xfrm>
        </p:spPr>
        <p:txBody>
          <a:bodyPr/>
          <a:lstStyle/>
          <a:p>
            <a:r>
              <a:rPr lang="en-US" b="0" i="0">
                <a:effectLst/>
                <a:latin typeface="fkGrotesk"/>
              </a:rPr>
              <a:t>Visit Our Workshop</a:t>
            </a:r>
          </a:p>
        </p:txBody>
      </p:sp>
      <p:sp>
        <p:nvSpPr>
          <p:cNvPr id="3" name="Content Placeholder 2">
            <a:extLst>
              <a:ext uri="{FF2B5EF4-FFF2-40B4-BE49-F238E27FC236}">
                <a16:creationId xmlns:a16="http://schemas.microsoft.com/office/drawing/2014/main" id="{5F8FC56E-AB98-B5DC-56A7-1E5A5ADD3EE1}"/>
              </a:ext>
            </a:extLst>
          </p:cNvPr>
          <p:cNvSpPr>
            <a:spLocks noGrp="1"/>
          </p:cNvSpPr>
          <p:nvPr>
            <p:ph idx="1"/>
          </p:nvPr>
        </p:nvSpPr>
        <p:spPr/>
        <p:txBody>
          <a:bodyPr/>
          <a:lstStyle/>
          <a:p>
            <a:r>
              <a:rPr lang="en-US" b="0" i="0" dirty="0">
                <a:effectLst/>
                <a:latin typeface="fkGroteskNeue"/>
              </a:rPr>
              <a:t>Address: 12/7 MG Road, Kumbakonam, Tamil Nadu 612001</a:t>
            </a:r>
          </a:p>
          <a:p>
            <a:r>
              <a:rPr lang="en-US" b="0" i="0" dirty="0">
                <a:effectLst/>
                <a:latin typeface="fkGroteskNeue"/>
              </a:rPr>
              <a:t>Invitation to visit or schedule a consultation</a:t>
            </a:r>
          </a:p>
          <a:p>
            <a:r>
              <a:rPr lang="en-US" b="0" i="0" dirty="0">
                <a:effectLst/>
                <a:latin typeface="fkGrotesk"/>
              </a:rPr>
              <a:t> </a:t>
            </a:r>
            <a:r>
              <a:rPr lang="en-US" b="1" i="0" dirty="0">
                <a:effectLst/>
                <a:latin typeface="fkGrotesk"/>
              </a:rPr>
              <a:t>Call</a:t>
            </a:r>
            <a:r>
              <a:rPr lang="en-US" b="0" i="0" dirty="0">
                <a:effectLst/>
                <a:latin typeface="fkGrotesk"/>
              </a:rPr>
              <a:t> </a:t>
            </a:r>
            <a:r>
              <a:rPr lang="en-US" b="1" i="0" dirty="0">
                <a:effectLst/>
                <a:latin typeface="fkGrotesk"/>
              </a:rPr>
              <a:t>to</a:t>
            </a:r>
            <a:r>
              <a:rPr lang="en-US" b="0" i="0" dirty="0">
                <a:effectLst/>
                <a:latin typeface="fkGrotesk"/>
              </a:rPr>
              <a:t> </a:t>
            </a:r>
            <a:r>
              <a:rPr lang="en-US" b="1" i="0" dirty="0">
                <a:effectLst/>
                <a:latin typeface="fkGrotesk"/>
              </a:rPr>
              <a:t>Action</a:t>
            </a:r>
            <a:r>
              <a:rPr lang="en-US" b="0" i="0" dirty="0">
                <a:effectLst/>
                <a:latin typeface="fkGrotesk"/>
              </a:rPr>
              <a:t>:</a:t>
            </a:r>
          </a:p>
          <a:p>
            <a:r>
              <a:rPr lang="en-US" b="0" i="0" dirty="0">
                <a:effectLst/>
                <a:latin typeface="fkGroteskNeue"/>
              </a:rPr>
              <a:t>Encouraging quote and CTA buttons</a:t>
            </a:r>
          </a:p>
          <a:p>
            <a:r>
              <a:rPr lang="en-US" b="0" i="0" dirty="0">
                <a:effectLst/>
                <a:latin typeface="fkGroteskNeue"/>
              </a:rPr>
              <a:t>“Get a Free Quote” or “See Our Work”</a:t>
            </a:r>
          </a:p>
          <a:p>
            <a:r>
              <a:rPr lang="en-US" b="0" i="0" dirty="0">
                <a:effectLst/>
                <a:latin typeface="fkGrotesk"/>
              </a:rPr>
              <a:t> </a:t>
            </a:r>
            <a:r>
              <a:rPr lang="en-US" b="1" i="0" dirty="0">
                <a:effectLst/>
                <a:latin typeface="fkGrotesk"/>
              </a:rPr>
              <a:t>Brand</a:t>
            </a:r>
            <a:r>
              <a:rPr lang="en-US" b="0" i="0" dirty="0">
                <a:effectLst/>
                <a:latin typeface="fkGrotesk"/>
              </a:rPr>
              <a:t> </a:t>
            </a:r>
            <a:r>
              <a:rPr lang="en-US" b="1" i="0" dirty="0">
                <a:effectLst/>
                <a:latin typeface="fkGrotesk"/>
              </a:rPr>
              <a:t>Colors</a:t>
            </a:r>
            <a:r>
              <a:rPr lang="en-US" b="0" i="0" dirty="0">
                <a:effectLst/>
                <a:latin typeface="fkGrotesk"/>
              </a:rPr>
              <a:t> &amp; </a:t>
            </a:r>
            <a:r>
              <a:rPr lang="en-US" b="1" i="0" dirty="0">
                <a:effectLst/>
                <a:latin typeface="fkGrotesk"/>
              </a:rPr>
              <a:t>Typography</a:t>
            </a:r>
            <a:r>
              <a:rPr lang="en-US" b="0" i="0" dirty="0">
                <a:effectLst/>
                <a:latin typeface="fkGrotesk"/>
              </a:rPr>
              <a:t>:</a:t>
            </a:r>
          </a:p>
          <a:p>
            <a:r>
              <a:rPr lang="en-US" b="0" i="0" dirty="0">
                <a:effectLst/>
                <a:latin typeface="fkGroteskNeue"/>
              </a:rPr>
              <a:t>Showcase of company colors (wood browns, tans, ivory)</a:t>
            </a:r>
          </a:p>
          <a:p>
            <a:r>
              <a:rPr lang="en-US" b="0" i="0" dirty="0">
                <a:effectLst/>
                <a:latin typeface="fkGroteskNeue"/>
              </a:rPr>
              <a:t>Fonts used (</a:t>
            </a:r>
            <a:r>
              <a:rPr lang="en-US" b="0" i="0" dirty="0" err="1">
                <a:effectLst/>
                <a:latin typeface="fkGroteskNeue"/>
              </a:rPr>
              <a:t>Playfair</a:t>
            </a:r>
            <a:r>
              <a:rPr lang="en-US" b="0" i="0" dirty="0">
                <a:effectLst/>
                <a:latin typeface="fkGroteskNeue"/>
              </a:rPr>
              <a:t> Display, </a:t>
            </a:r>
            <a:r>
              <a:rPr lang="en-US" b="0" i="0" dirty="0" err="1">
                <a:effectLst/>
                <a:latin typeface="fkGroteskNeue"/>
              </a:rPr>
              <a:t>Lato</a:t>
            </a:r>
            <a:r>
              <a:rPr lang="en-US" b="0" i="0" dirty="0">
                <a:effectLst/>
                <a:latin typeface="fkGroteskNeue"/>
              </a:rPr>
              <a:t>)</a:t>
            </a:r>
          </a:p>
        </p:txBody>
      </p:sp>
    </p:spTree>
    <p:extLst>
      <p:ext uri="{BB962C8B-B14F-4D97-AF65-F5344CB8AC3E}">
        <p14:creationId xmlns:p14="http://schemas.microsoft.com/office/powerpoint/2010/main" val="3648059427"/>
      </p:ext>
    </p:extLst>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F704B-5047-8DE2-D19A-BB38995CB7AB}"/>
              </a:ext>
            </a:extLst>
          </p:cNvPr>
          <p:cNvSpPr>
            <a:spLocks noGrp="1"/>
          </p:cNvSpPr>
          <p:nvPr>
            <p:ph type="title"/>
          </p:nvPr>
        </p:nvSpPr>
        <p:spPr>
          <a:xfrm>
            <a:off x="2009216" y="955525"/>
            <a:ext cx="6571060" cy="706964"/>
          </a:xfrm>
        </p:spPr>
        <p:txBody>
          <a:bodyPr/>
          <a:lstStyle/>
          <a:p>
            <a:r>
              <a:rPr lang="en-US" dirty="0"/>
              <a:t>Code of a program</a:t>
            </a:r>
          </a:p>
        </p:txBody>
      </p:sp>
      <p:sp>
        <p:nvSpPr>
          <p:cNvPr id="3" name="Content Placeholder 2">
            <a:extLst>
              <a:ext uri="{FF2B5EF4-FFF2-40B4-BE49-F238E27FC236}">
                <a16:creationId xmlns:a16="http://schemas.microsoft.com/office/drawing/2014/main" id="{D5765916-F070-72B6-7BDA-051901CFD961}"/>
              </a:ext>
            </a:extLst>
          </p:cNvPr>
          <p:cNvSpPr>
            <a:spLocks noGrp="1"/>
          </p:cNvSpPr>
          <p:nvPr>
            <p:ph idx="1"/>
          </p:nvPr>
        </p:nvSpPr>
        <p:spPr>
          <a:xfrm>
            <a:off x="866216" y="2603500"/>
            <a:ext cx="7860498" cy="3298975"/>
          </a:xfrm>
        </p:spPr>
        <p:txBody>
          <a:bodyPr/>
          <a:lstStyle/>
          <a:p>
            <a:r>
              <a:rPr lang="en-US" b="1"/>
              <a:t>1. Header (Navigation Bar)Skip to contentThe SV Furniture Co  ☰ Menu- Home- About- Gallery- ContactCreates a sticky top navigation bar.The company name The SV Furniture Co is shown on the left.A "Menu" (☰) icon is likely for mobile view.Navigation links (Home, About, Gallery, Contact) help users scroll to each section.</a:t>
            </a:r>
          </a:p>
        </p:txBody>
      </p:sp>
    </p:spTree>
    <p:extLst>
      <p:ext uri="{BB962C8B-B14F-4D97-AF65-F5344CB8AC3E}">
        <p14:creationId xmlns:p14="http://schemas.microsoft.com/office/powerpoint/2010/main" val="1251848993"/>
      </p:ext>
    </p:extLst>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39B0E-47F6-8440-C683-63209BECA88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EB56005-7742-01C6-15E8-279D70EE080A}"/>
              </a:ext>
            </a:extLst>
          </p:cNvPr>
          <p:cNvSpPr>
            <a:spLocks noGrp="1"/>
          </p:cNvSpPr>
          <p:nvPr>
            <p:ph idx="1"/>
          </p:nvPr>
        </p:nvSpPr>
        <p:spPr>
          <a:xfrm>
            <a:off x="866216" y="2468032"/>
            <a:ext cx="6619244" cy="3416300"/>
          </a:xfrm>
        </p:spPr>
        <p:txBody>
          <a:bodyPr/>
          <a:lstStyle/>
          <a:p>
            <a:r>
              <a:rPr lang="en-US" b="1"/>
              <a:t>2. Hero Section (First impression)# Authentic Handcrafted FurnitureTailored woodwork that lasts generations.Get a Free Quote →A headline introducing the company: Authentic Handcrafted Furniture.A subheading that highlights durability: Tailored woodwork that lasts generations.A CTA button: “Get a Free Quote →” to attract customers.</a:t>
            </a:r>
          </a:p>
        </p:txBody>
      </p:sp>
    </p:spTree>
    <p:extLst>
      <p:ext uri="{BB962C8B-B14F-4D97-AF65-F5344CB8AC3E}">
        <p14:creationId xmlns:p14="http://schemas.microsoft.com/office/powerpoint/2010/main" val="1131591351"/>
      </p:ext>
    </p:extLst>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355D5-5713-4CC0-2442-84249ECCBFC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9424344-18F1-87AA-F768-64522ECE495E}"/>
              </a:ext>
            </a:extLst>
          </p:cNvPr>
          <p:cNvSpPr>
            <a:spLocks noGrp="1"/>
          </p:cNvSpPr>
          <p:nvPr>
            <p:ph idx="1"/>
          </p:nvPr>
        </p:nvSpPr>
        <p:spPr/>
        <p:txBody>
          <a:bodyPr/>
          <a:lstStyle/>
          <a:p>
            <a:r>
              <a:rPr lang="en-US" b="1"/>
              <a:t>3. About Section&lt;section id="about" class="about"&gt;  &lt;h2&gt;Craftsmanship, Trust &amp; Tradition&lt;/h2&gt;  &lt;p&gt;Led by master craftsman Shamkumar...&lt;/p&gt;Explains who you are and what you do.Mentions experience (15+ years) and your craftsmanship values.Uses badges (like "15+ Years", "Handmade", "Pan-India Delivery").Highlights details like premium wood, specialties, and joinery techniques.Includes an image of a carpenter working</a:t>
            </a:r>
          </a:p>
        </p:txBody>
      </p:sp>
    </p:spTree>
    <p:extLst>
      <p:ext uri="{BB962C8B-B14F-4D97-AF65-F5344CB8AC3E}">
        <p14:creationId xmlns:p14="http://schemas.microsoft.com/office/powerpoint/2010/main" val="2368036745"/>
      </p:ext>
    </p:extLst>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C0965-5CCF-67E3-B057-B779050239B6}"/>
              </a:ext>
            </a:extLst>
          </p:cNvPr>
          <p:cNvSpPr>
            <a:spLocks noGrp="1"/>
          </p:cNvSpPr>
          <p:nvPr>
            <p:ph type="title"/>
          </p:nvPr>
        </p:nvSpPr>
        <p:spPr>
          <a:xfrm>
            <a:off x="3115930" y="838200"/>
            <a:ext cx="6571060" cy="706964"/>
          </a:xfrm>
        </p:spPr>
        <p:txBody>
          <a:bodyPr/>
          <a:lstStyle/>
          <a:p>
            <a:r>
              <a:rPr lang="en-US" dirty="0"/>
              <a:t>Video</a:t>
            </a:r>
          </a:p>
        </p:txBody>
      </p:sp>
      <p:pic>
        <p:nvPicPr>
          <p:cNvPr id="4" name="video_20250828_124733_edit.mp4">
            <a:hlinkClick r:id="" action="ppaction://media"/>
            <a:extLst>
              <a:ext uri="{FF2B5EF4-FFF2-40B4-BE49-F238E27FC236}">
                <a16:creationId xmlns:a16="http://schemas.microsoft.com/office/drawing/2014/main" id="{A6EBBB73-2CE3-3C78-087C-5A258DEEA102}"/>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1251856" y="2570651"/>
            <a:ext cx="6685643" cy="3939101"/>
          </a:xfrm>
          <a:prstGeom prst="rect">
            <a:avLst/>
          </a:prstGeom>
        </p:spPr>
      </p:pic>
    </p:spTree>
    <p:extLst>
      <p:ext uri="{BB962C8B-B14F-4D97-AF65-F5344CB8AC3E}">
        <p14:creationId xmlns:p14="http://schemas.microsoft.com/office/powerpoint/2010/main" val="2799211365"/>
      </p:ext>
    </p:extLst>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DD6C9-B91C-55A8-EC0A-EA0BBBD3D08D}"/>
              </a:ext>
            </a:extLst>
          </p:cNvPr>
          <p:cNvSpPr>
            <a:spLocks noGrp="1"/>
          </p:cNvSpPr>
          <p:nvPr>
            <p:ph type="title"/>
          </p:nvPr>
        </p:nvSpPr>
        <p:spPr>
          <a:xfrm>
            <a:off x="1519359" y="910168"/>
            <a:ext cx="6571060" cy="706964"/>
          </a:xfrm>
        </p:spPr>
        <p:txBody>
          <a:bodyPr/>
          <a:lstStyle/>
          <a:p>
            <a:r>
              <a:rPr lang="en-US" b="0" i="0" dirty="0">
                <a:effectLst/>
                <a:latin typeface="fkGroteskNeue"/>
              </a:rPr>
              <a:t>Advantages and disadvantages</a:t>
            </a:r>
            <a:endParaRPr lang="en-US" dirty="0"/>
          </a:p>
        </p:txBody>
      </p:sp>
      <p:sp>
        <p:nvSpPr>
          <p:cNvPr id="3" name="Content Placeholder 2">
            <a:extLst>
              <a:ext uri="{FF2B5EF4-FFF2-40B4-BE49-F238E27FC236}">
                <a16:creationId xmlns:a16="http://schemas.microsoft.com/office/drawing/2014/main" id="{C1268579-5C71-AAC0-798A-1ED04B04AF1A}"/>
              </a:ext>
            </a:extLst>
          </p:cNvPr>
          <p:cNvSpPr>
            <a:spLocks noGrp="1"/>
          </p:cNvSpPr>
          <p:nvPr>
            <p:ph idx="1"/>
          </p:nvPr>
        </p:nvSpPr>
        <p:spPr/>
        <p:txBody>
          <a:bodyPr/>
          <a:lstStyle/>
          <a:p>
            <a:r>
              <a:rPr lang="en-US" b="1" i="0">
                <a:effectLst/>
                <a:latin typeface="fkGroteskNeue"/>
              </a:rPr>
              <a:t>Advantage:</a:t>
            </a:r>
            <a:br>
              <a:rPr lang="en-US" b="1" i="0">
                <a:effectLst/>
                <a:latin typeface="fkGroteskNeue"/>
              </a:rPr>
            </a:br>
            <a:r>
              <a:rPr lang="en-US" b="1" i="0">
                <a:effectLst/>
                <a:latin typeface="fkGroteskNeue"/>
              </a:rPr>
              <a:t>A feature that provides a beneficial effect or makes something better in comparison to alternatives</a:t>
            </a:r>
            <a:r>
              <a:rPr lang="en-US" b="1" i="0">
                <a:effectLst/>
                <a:latin typeface="fkGroteskNeue"/>
                <a:hlinkClick r:id="rId2"/>
              </a:rPr>
              <a:t>1</a:t>
            </a:r>
            <a:r>
              <a:rPr lang="en-US" b="1" i="0">
                <a:effectLst/>
                <a:latin typeface="fkGroteskNeue"/>
              </a:rPr>
              <a:t>.</a:t>
            </a:r>
          </a:p>
          <a:p>
            <a:r>
              <a:rPr lang="en-US" b="1" i="0">
                <a:effectLst/>
                <a:latin typeface="fkGroteskNeue"/>
              </a:rPr>
              <a:t>Disadvantage:</a:t>
            </a:r>
            <a:br>
              <a:rPr lang="en-US" b="1" i="0">
                <a:effectLst/>
                <a:latin typeface="fkGroteskNeue"/>
              </a:rPr>
            </a:br>
            <a:r>
              <a:rPr lang="en-US" b="1" i="0">
                <a:effectLst/>
                <a:latin typeface="fkGroteskNeue"/>
              </a:rPr>
              <a:t>A feature that causes problems, limitations, or makes something less desirable in comparison to alternatives</a:t>
            </a:r>
            <a:r>
              <a:rPr lang="en-US" b="1" i="0">
                <a:effectLst/>
                <a:latin typeface="fkGroteskNeue"/>
                <a:hlinkClick r:id="rId2"/>
              </a:rPr>
              <a:t>1</a:t>
            </a:r>
            <a:r>
              <a:rPr lang="en-US" b="1" i="0">
                <a:effectLst/>
                <a:latin typeface="fkGroteskNeue"/>
              </a:rPr>
              <a:t>.</a:t>
            </a:r>
          </a:p>
        </p:txBody>
      </p:sp>
    </p:spTree>
    <p:extLst>
      <p:ext uri="{BB962C8B-B14F-4D97-AF65-F5344CB8AC3E}">
        <p14:creationId xmlns:p14="http://schemas.microsoft.com/office/powerpoint/2010/main" val="1725340776"/>
      </p:ext>
    </p:extLst>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048DD4-21FA-670A-576C-9B4678BED8C1}"/>
              </a:ext>
            </a:extLst>
          </p:cNvPr>
          <p:cNvSpPr>
            <a:spLocks noGrp="1"/>
          </p:cNvSpPr>
          <p:nvPr>
            <p:ph idx="1"/>
          </p:nvPr>
        </p:nvSpPr>
        <p:spPr/>
        <p:txBody>
          <a:bodyPr/>
          <a:lstStyle/>
          <a:p>
            <a:r>
              <a:rPr lang="en-US" b="1" i="0">
                <a:effectLst/>
                <a:latin typeface="fkGroteskNeue"/>
              </a:rPr>
              <a:t>Advantages make a product or service more attractive, offering benefits like quality, customization, and value.</a:t>
            </a:r>
          </a:p>
          <a:p>
            <a:r>
              <a:rPr lang="en-US" b="1" i="0">
                <a:effectLst/>
                <a:latin typeface="fkGroteskNeue"/>
              </a:rPr>
              <a:t>Disadvantages are drawbacks, such as higher cost, time, or effort required</a:t>
            </a:r>
            <a:r>
              <a:rPr lang="en-US" b="1" i="0">
                <a:effectLst/>
                <a:latin typeface="fkGroteskNeue"/>
                <a:hlinkClick r:id="rId2"/>
              </a:rPr>
              <a:t>1</a:t>
            </a:r>
            <a:r>
              <a:rPr lang="en-US" b="1" i="0">
                <a:effectLst/>
                <a:latin typeface="fkGroteskNeue"/>
                <a:hlinkClick r:id="rId3"/>
              </a:rPr>
              <a:t>3</a:t>
            </a:r>
            <a:r>
              <a:rPr lang="en-US" b="1" i="0">
                <a:effectLst/>
                <a:latin typeface="fkGroteskNeue"/>
              </a:rPr>
              <a:t>.</a:t>
            </a:r>
          </a:p>
        </p:txBody>
      </p:sp>
      <p:sp>
        <p:nvSpPr>
          <p:cNvPr id="7" name="Title 6">
            <a:extLst>
              <a:ext uri="{FF2B5EF4-FFF2-40B4-BE49-F238E27FC236}">
                <a16:creationId xmlns:a16="http://schemas.microsoft.com/office/drawing/2014/main" id="{B5C2403A-02C7-3120-5872-F4620EABF65F}"/>
              </a:ext>
            </a:extLst>
          </p:cNvPr>
          <p:cNvSpPr>
            <a:spLocks noGrp="1"/>
          </p:cNvSpPr>
          <p:nvPr>
            <p:ph type="title"/>
          </p:nvPr>
        </p:nvSpPr>
        <p:spPr>
          <a:xfrm>
            <a:off x="3143145" y="937382"/>
            <a:ext cx="6571060" cy="706964"/>
          </a:xfrm>
        </p:spPr>
        <p:txBody>
          <a:bodyPr/>
          <a:lstStyle/>
          <a:p>
            <a:r>
              <a:rPr lang="en-US" b="0" i="0">
                <a:effectLst/>
                <a:latin typeface="fkGrotesk"/>
              </a:rPr>
              <a:t>Summary</a:t>
            </a:r>
          </a:p>
        </p:txBody>
      </p:sp>
    </p:spTree>
    <p:extLst>
      <p:ext uri="{BB962C8B-B14F-4D97-AF65-F5344CB8AC3E}">
        <p14:creationId xmlns:p14="http://schemas.microsoft.com/office/powerpoint/2010/main" val="957257662"/>
      </p:ext>
    </p:extLst>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8A8A1-AC76-2B73-9A4B-7A3DBD97FF7F}"/>
              </a:ext>
            </a:extLst>
          </p:cNvPr>
          <p:cNvSpPr>
            <a:spLocks noGrp="1"/>
          </p:cNvSpPr>
          <p:nvPr>
            <p:ph type="title"/>
          </p:nvPr>
        </p:nvSpPr>
        <p:spPr>
          <a:xfrm>
            <a:off x="2970788" y="1037169"/>
            <a:ext cx="6571060" cy="706964"/>
          </a:xfrm>
        </p:spPr>
        <p:txBody>
          <a:bodyPr/>
          <a:lstStyle/>
          <a:p>
            <a:r>
              <a:rPr lang="en-US"/>
              <a:t>conclusion</a:t>
            </a:r>
          </a:p>
        </p:txBody>
      </p:sp>
      <p:sp>
        <p:nvSpPr>
          <p:cNvPr id="3" name="Content Placeholder 2">
            <a:extLst>
              <a:ext uri="{FF2B5EF4-FFF2-40B4-BE49-F238E27FC236}">
                <a16:creationId xmlns:a16="http://schemas.microsoft.com/office/drawing/2014/main" id="{41393677-F809-76F1-336C-BA3FB4315D05}"/>
              </a:ext>
            </a:extLst>
          </p:cNvPr>
          <p:cNvSpPr>
            <a:spLocks noGrp="1"/>
          </p:cNvSpPr>
          <p:nvPr>
            <p:ph idx="1"/>
          </p:nvPr>
        </p:nvSpPr>
        <p:spPr/>
        <p:txBody>
          <a:bodyPr/>
          <a:lstStyle/>
          <a:p>
            <a:r>
              <a:rPr lang="en-US" b="1" i="0" dirty="0">
                <a:effectLst/>
                <a:latin typeface="fkGroteskNeue"/>
              </a:rPr>
              <a:t>The SV Furniture Co stands for craftsmanship, trust, and tradition—transforming homes with authentic, handcrafted wooden furniture. With over 15 years of expertise, a commitment to premium materials, and personalized designs, the company delivers lasting value and elegance to customers nationwide. This dedication to quality and customer care ensures every piece is not just furniture, but a heritage investment.</a:t>
            </a:r>
          </a:p>
          <a:p>
            <a:r>
              <a:rPr lang="en-US" b="1" i="0" dirty="0">
                <a:effectLst/>
                <a:latin typeface="fkGroteskNeue"/>
              </a:rPr>
              <a:t>Thank you for exploring The SV Furniture company story and signature offerings. Let’s craft your next masterpiece together</a:t>
            </a:r>
          </a:p>
        </p:txBody>
      </p:sp>
    </p:spTree>
    <p:extLst>
      <p:ext uri="{BB962C8B-B14F-4D97-AF65-F5344CB8AC3E}">
        <p14:creationId xmlns:p14="http://schemas.microsoft.com/office/powerpoint/2010/main" val="2517203555"/>
      </p:ext>
    </p:extLst>
  </p:cSld>
  <p:clrMapOvr>
    <a:masterClrMapping/>
  </p:clrMapOvr>
  <mc:AlternateContent xmlns:mc="http://schemas.openxmlformats.org/markup-compatibility/2006">
    <mc:Choice xmlns:p14="http://schemas.microsoft.com/office/powerpoint/2010/main" Requires="p14">
      <p:transition spd="slow" p14:dur="3900">
        <p14:glitter dir="d"/>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TF10001029" id="{ED3996BA-162B-43C7-B0E2-A5CA4E649741}" vid="{187088E4-27D7-4455-856F-4A44258D82E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30</Slides>
  <Notes>0</Notes>
  <HiddenSlides>0</HiddenSlide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Ion Boardroom</vt:lpstr>
      <vt:lpstr> Introduction</vt:lpstr>
      <vt:lpstr> The SV Furniture Company</vt:lpstr>
      <vt:lpstr>objectives</vt:lpstr>
      <vt:lpstr>system requirement</vt:lpstr>
      <vt:lpstr>obstacles</vt:lpstr>
      <vt:lpstr>PowerPoint Presentation</vt:lpstr>
      <vt:lpstr> Cover Slide</vt:lpstr>
      <vt:lpstr>        Welcome / Introduction    </vt:lpstr>
      <vt:lpstr>  Company History</vt:lpstr>
      <vt:lpstr>           Our Values           </vt:lpstr>
      <vt:lpstr>         Meet the Founder             </vt:lpstr>
      <vt:lpstr> Crafting Process Overview</vt:lpstr>
      <vt:lpstr>  Specialty Products Introduction</vt:lpstr>
      <vt:lpstr>Dining Table</vt:lpstr>
      <vt:lpstr>Custom Bookshelf  </vt:lpstr>
      <vt:lpstr>  King Bed Frame</vt:lpstr>
      <vt:lpstr> Garden Bench  </vt:lpstr>
      <vt:lpstr>Custom Orders &amp; Design Consults</vt:lpstr>
      <vt:lpstr>Pan-India Delivery  </vt:lpstr>
      <vt:lpstr>Materials &amp; Sustainability</vt:lpstr>
      <vt:lpstr>Market Reach &amp; Clients</vt:lpstr>
      <vt:lpstr>How to Order  </vt:lpstr>
      <vt:lpstr>Visit Our Workshop</vt:lpstr>
      <vt:lpstr>Code of a program</vt:lpstr>
      <vt:lpstr>PowerPoint Presentation</vt:lpstr>
      <vt:lpstr>PowerPoint Presentation</vt:lpstr>
      <vt:lpstr>Video</vt:lpstr>
      <vt:lpstr>Advantages and disadvantages</vt:lpstr>
      <vt:lpstr>Summary</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The SV Furniture Co – PowerPoint Presentation Draft</dc:title>
  <dc:creator>Shamkumar .v</dc:creator>
  <cp:lastModifiedBy>Shamkumar .v</cp:lastModifiedBy>
  <cp:revision>32</cp:revision>
  <dcterms:created xsi:type="dcterms:W3CDTF">2025-08-26T16:10:07Z</dcterms:created>
  <dcterms:modified xsi:type="dcterms:W3CDTF">2025-09-04T07:42:38Z</dcterms:modified>
</cp:coreProperties>
</file>